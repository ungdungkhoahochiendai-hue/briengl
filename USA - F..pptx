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charts/chart1.xml" ContentType="application/vnd.openxmlformats-officedocument.drawingml.chart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22"/>
  </p:notesMasterIdLst>
  <p:sldIdLst>
    <p:sldId id="256" r:id="rId2"/>
    <p:sldId id="257" r:id="rId3"/>
    <p:sldId id="258" r:id="rId4"/>
    <p:sldId id="259" r:id="rId5"/>
    <p:sldId id="261" r:id="rId6"/>
    <p:sldId id="263" r:id="rId7"/>
    <p:sldId id="262" r:id="rId8"/>
    <p:sldId id="264" r:id="rId9"/>
    <p:sldId id="265" r:id="rId10"/>
    <p:sldId id="266" r:id="rId11"/>
    <p:sldId id="267" r:id="rId12"/>
    <p:sldId id="268" r:id="rId13"/>
    <p:sldId id="269" r:id="rId14"/>
    <p:sldId id="270" r:id="rId15"/>
    <p:sldId id="271" r:id="rId16"/>
    <p:sldId id="272" r:id="rId17"/>
    <p:sldId id="273" r:id="rId18"/>
    <p:sldId id="274" r:id="rId19"/>
    <p:sldId id="275" r:id="rId20"/>
    <p:sldId id="276" r:id="rId21"/>
  </p:sldIdLst>
  <p:sldSz cx="12161838" cy="6858000"/>
  <p:notesSz cx="6858000" cy="12161838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22" d="100"/>
          <a:sy n="122" d="100"/>
        </p:scale>
        <p:origin x="162" y="1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ableStyles" Target="tableStyle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notesMaster" Target="notesMasters/notesMaster1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Speakers (millions)</c:v>
                </c:pt>
              </c:strCache>
            </c:strRef>
          </c:tx>
          <c:spPr>
            <a:solidFill>
              <a:srgbClr val="1F2A5A"/>
            </a:solidFill>
            <a:effectLst/>
          </c:spPr>
          <c:invertIfNegative val="0"/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100" b="1" i="0" u="none" strike="noStrike">
                    <a:solidFill>
                      <a:srgbClr val="B31942"/>
                    </a:solidFill>
                    <a:latin typeface="Arial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Sheet1!$A$2:$A$5</c:f>
              <c:strCache>
                <c:ptCount val="4"/>
                <c:pt idx="0">
                  <c:v>1600</c:v>
                </c:pt>
                <c:pt idx="1">
                  <c:v>1900</c:v>
                </c:pt>
                <c:pt idx="2">
                  <c:v>2000</c:v>
                </c:pt>
                <c:pt idx="3">
                  <c:v>2026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6</c:v>
                </c:pt>
                <c:pt idx="1">
                  <c:v>270</c:v>
                </c:pt>
                <c:pt idx="2">
                  <c:v>1000</c:v>
                </c:pt>
                <c:pt idx="3">
                  <c:v>1500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DC0B-AA4B-9F38-EC2F5B4355DD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6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5A6172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E3DCCC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5A6172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solidFill>
      <a:srgbClr val="FBF7F0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6096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6096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2B586C7-41EC-924A-AAFE-D7A8CD2865AB}" type="datetimeFigureOut">
              <a:rPr lang="en-US" smtClean="0"/>
              <a:t>4/22/2026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-209550" y="1520825"/>
            <a:ext cx="7277100" cy="4103688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5853113"/>
            <a:ext cx="5486400" cy="47879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11552238"/>
            <a:ext cx="2971800" cy="6096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11552238"/>
            <a:ext cx="2971800" cy="6096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12C6C82-3553-614F-9AF2-6A9112DFDD2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5701284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[Opening ~45s | all] Welcome, introduce the three presenters, state the topic and preview the three parts.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[~45s | all] Walk through the three parts, each about five minutes, and who presents each one.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[Member 1 begins ~5 min] Set up: how English grew from a small Germanic language into a world language, and how it first crossed the Atlantic.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[M1 ~1 min] Four stages. Two turning points: 1066 (French &amp; Latin vocabulary) and 1476 printing press + the Great Vowel Shift.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[M1 ~1.5 min] English is global because of history, not superiority. Two forces: the Empire planted it, the USA modernised it. Point at the chart: from about 6 million speakers in 1600 to roughly 1.5 billion today. Note these are approximate estimates.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[M1 ~1 min | NEW | end of Part 1] The English that crossed the Atlantic was Shakespeare's English. Two ideas: implantation (1607, 1620) and preservation — America kept features Britain later lost, such as the strong /r/ and the word 'fall'. Hand over to Member 2.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[M1 ~1 min] Explain the three circles. Answer the question: the USA is in the Inner Circle — native and norm-providing.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[Member 2 begins ~5 min] Continue the story: separated by an ocean, English in America went its own way. Then look at the culture around it.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[M2 ~1.5 min | NEW] Two forces made American English diverge. First, isolation: 3,000 miles of ocean meant no daily contact with London. Second, adaptation: settlers needed brand-new words for a brand-new environment — moose, raccoon, prairie.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[M2 ~1.5 min | NEW] Webster is the key figure. After political independence in 1776, America wanted linguistic independence too. He deliberately simplified spelling: colour became color, theatre became theater. This is why the two spelling systems differ today — and it sets up Part 3.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[M2 ~1 min] The USA is a melting pot — cuisine, religion, festivals. And crucially, every immigrant group also left words behind: raccoon, canyon, cookie, kindergarten, pizza, bagel. Culture and language grew together.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[M2 ~1 min] The 1621 feast, then national holiday in 1863. Today: turkey, family, parades, football. Add the Native American perspective — the National Day of Mourning.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[M2 ~1 min | end of Part 2] Contrast the two festivals: family &amp; gratitude vs nationhood &amp; freedom. Then hand to Member 3, who will show exactly how American English differs from British English.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[Member 3 begins ~5 min] Preview: pronunciation, vocabulary, grammar, spelling. These are variations within ONE mutually intelligible language.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[M3 ~1.5 min] Demonstrate rhoticity (car) and the flap-T (water) out loud. Read a couple of IPA rows in both accents.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[M3 ~1 min] Pick fun pairs: flat/apartment, chips/fries, football/soccer. Meaning is usually clear from context.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[M3 ~1 min] Highlight 'gotten' and collective nouns (team are vs team is).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[M3 ~1 min | end of Part 3] Regular patterns — drop the u, flip -re to -er, prefer -ize. Credit Noah Webster again (Member 2 introduced him).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[All / Member 1 ~1 min] Recap the three takeaways, point to future directions, invite questions.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[All ~30s] Thank the audience. Q&amp;A split: M1 = language/history, M2 = American English history &amp; culture, M3 = the comparison.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6.png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4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5" Type="http://schemas.openxmlformats.org/officeDocument/2006/relationships/image" Target="../media/image10.png"/><Relationship Id="rId4" Type="http://schemas.openxmlformats.org/officeDocument/2006/relationships/image" Target="../media/image9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7" Type="http://schemas.openxmlformats.org/officeDocument/2006/relationships/chart" Target="../charts/chart1.xml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3.png"/><Relationship Id="rId5" Type="http://schemas.openxmlformats.org/officeDocument/2006/relationships/image" Target="../media/image12.png"/><Relationship Id="rId4" Type="http://schemas.openxmlformats.org/officeDocument/2006/relationships/image" Target="../media/image11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8.png"/><Relationship Id="rId4" Type="http://schemas.openxmlformats.org/officeDocument/2006/relationships/image" Target="../media/image15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5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9.png"/><Relationship Id="rId4" Type="http://schemas.openxmlformats.org/officeDocument/2006/relationships/image" Target="../media/image18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1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7" Type="http://schemas.openxmlformats.org/officeDocument/2006/relationships/image" Target="../media/image25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4.png"/><Relationship Id="rId5" Type="http://schemas.openxmlformats.org/officeDocument/2006/relationships/image" Target="../media/image23.png"/><Relationship Id="rId4" Type="http://schemas.openxmlformats.org/officeDocument/2006/relationships/image" Target="../media/image22.png"/></Relationships>
</file>

<file path=ppt/slides/_rels/slide12.xml.rels><?xml version="1.0" encoding="UTF-8" standalone="yes"?>
<Relationships xmlns="http://schemas.openxmlformats.org/package/2006/relationships"><Relationship Id="rId8" Type="http://schemas.openxmlformats.org/officeDocument/2006/relationships/image" Target="../media/image25.png"/><Relationship Id="rId3" Type="http://schemas.openxmlformats.org/officeDocument/2006/relationships/image" Target="../media/image26.png"/><Relationship Id="rId7" Type="http://schemas.openxmlformats.org/officeDocument/2006/relationships/image" Target="../media/image30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9.png"/><Relationship Id="rId5" Type="http://schemas.openxmlformats.org/officeDocument/2006/relationships/image" Target="../media/image28.png"/><Relationship Id="rId4" Type="http://schemas.openxmlformats.org/officeDocument/2006/relationships/image" Target="../media/image27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3.png"/><Relationship Id="rId5" Type="http://schemas.openxmlformats.org/officeDocument/2006/relationships/image" Target="../media/image32.png"/><Relationship Id="rId4" Type="http://schemas.openxmlformats.org/officeDocument/2006/relationships/image" Target="../media/image9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Relationship Id="rId5" Type="http://schemas.openxmlformats.org/officeDocument/2006/relationships/hyperlink" Target="BriAmer.html" TargetMode="External"/><Relationship Id="rId4" Type="http://schemas.openxmlformats.org/officeDocument/2006/relationships/image" Target="../media/image34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5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6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7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8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9.png"/><Relationship Id="rId5" Type="http://schemas.openxmlformats.org/officeDocument/2006/relationships/image" Target="../media/image14.png"/><Relationship Id="rId4" Type="http://schemas.openxmlformats.org/officeDocument/2006/relationships/image" Target="../media/image4.pn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40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1417320"/>
            <a:ext cx="7680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ENGLISH AS A</a:t>
            </a:r>
            <a:endParaRPr lang="en-US" sz="4400" dirty="0"/>
          </a:p>
        </p:txBody>
      </p:sp>
      <p:sp>
        <p:nvSpPr>
          <p:cNvPr id="3" name="Text 1"/>
          <p:cNvSpPr/>
          <p:nvPr/>
        </p:nvSpPr>
        <p:spPr>
          <a:xfrm>
            <a:off x="731520" y="2194560"/>
            <a:ext cx="78638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5200" b="1" dirty="0">
                <a:solidFill>
                  <a:srgbClr val="E8B84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GLOBAL LANGUAGE</a:t>
            </a:r>
            <a:endParaRPr lang="en-US" sz="5200" dirty="0"/>
          </a:p>
        </p:txBody>
      </p:sp>
      <p:sp>
        <p:nvSpPr>
          <p:cNvPr id="4" name="Text 2"/>
          <p:cNvSpPr/>
          <p:nvPr/>
        </p:nvSpPr>
        <p:spPr>
          <a:xfrm>
            <a:off x="749808" y="3200400"/>
            <a:ext cx="7680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i="1" dirty="0">
                <a:solidFill>
                  <a:srgbClr val="D7DC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Case Study of the United States of America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749808" y="3657600"/>
            <a:ext cx="7680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AEB6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Culture  •  The Arrival of English  •  American vs British English</a:t>
            </a:r>
            <a:endParaRPr lang="en-US" sz="1300" dirty="0"/>
          </a:p>
        </p:txBody>
      </p:sp>
      <p:pic>
        <p:nvPicPr>
          <p:cNvPr id="6" name="Image 0" descr="/home/claude/assets/flag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686800" y="1554480"/>
            <a:ext cx="2926080" cy="1901952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8686800" y="1554480"/>
            <a:ext cx="2926080" cy="1901952"/>
          </a:xfrm>
          <a:prstGeom prst="roundRect">
            <a:avLst>
              <a:gd name="adj" fmla="val 962"/>
            </a:avLst>
          </a:prstGeom>
          <a:ln w="15875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5"/>
          <p:cNvSpPr/>
          <p:nvPr/>
        </p:nvSpPr>
        <p:spPr>
          <a:xfrm>
            <a:off x="731520" y="5074920"/>
            <a:ext cx="10698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E8B8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Presented by:   </a:t>
            </a: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[MINH TAM]     [THANH THUY]     [MINH TAN]</a:t>
            </a:r>
            <a:endParaRPr lang="en-US" sz="1400" dirty="0"/>
          </a:p>
        </p:txBody>
      </p:sp>
      <p:sp>
        <p:nvSpPr>
          <p:cNvPr id="9" name="Text 6"/>
          <p:cNvSpPr/>
          <p:nvPr/>
        </p:nvSpPr>
        <p:spPr>
          <a:xfrm>
            <a:off x="731520" y="5532120"/>
            <a:ext cx="10698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9BA3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Course: English as a Global Language   |   Instructor: [Name]   |   Duration: ~15 minutes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BF7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384048"/>
            <a:ext cx="713232" cy="713232"/>
          </a:xfrm>
          <a:prstGeom prst="ellipse">
            <a:avLst/>
          </a:prstGeom>
          <a:solidFill>
            <a:srgbClr val="E8B84B"/>
          </a:solidFill>
          <a:ln/>
          <a:effectLst>
            <a:outerShdw blurRad="114300" dist="38100" dir="5400000" algn="bl" rotWithShape="0">
              <a:srgbClr val="000000">
                <a:alpha val="16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pic>
        <p:nvPicPr>
          <p:cNvPr id="3" name="Image 0" descr="/home/claude/assets/ic_checkflag_n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4080" y="569488"/>
            <a:ext cx="342351" cy="342351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417320" y="384048"/>
            <a:ext cx="1014984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1F2A5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Presentation Roadmap</a:t>
            </a:r>
            <a:endParaRPr lang="en-US" sz="2700" dirty="0"/>
          </a:p>
        </p:txBody>
      </p:sp>
      <p:sp>
        <p:nvSpPr>
          <p:cNvPr id="5" name="Shape 2"/>
          <p:cNvSpPr/>
          <p:nvPr/>
        </p:nvSpPr>
        <p:spPr>
          <a:xfrm>
            <a:off x="640080" y="1554480"/>
            <a:ext cx="3566160" cy="4343400"/>
          </a:xfrm>
          <a:prstGeom prst="roundRect">
            <a:avLst>
              <a:gd name="adj" fmla="val 2308"/>
            </a:avLst>
          </a:prstGeom>
          <a:solidFill>
            <a:srgbClr val="FFFFFF"/>
          </a:solidFill>
          <a:ln/>
          <a:effectLst>
            <a:outerShdw blurRad="114300" dist="38100" dir="5400000" algn="bl" rotWithShape="0">
              <a:srgbClr val="000000">
                <a:alpha val="16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6" name="Text 3"/>
          <p:cNvSpPr/>
          <p:nvPr/>
        </p:nvSpPr>
        <p:spPr>
          <a:xfrm>
            <a:off x="914400" y="1737360"/>
            <a:ext cx="18288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5000" b="1" dirty="0">
                <a:solidFill>
                  <a:srgbClr val="1F2A5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01</a:t>
            </a:r>
            <a:endParaRPr lang="en-US" sz="5000" dirty="0"/>
          </a:p>
        </p:txBody>
      </p:sp>
      <p:sp>
        <p:nvSpPr>
          <p:cNvPr id="7" name="Shape 4"/>
          <p:cNvSpPr/>
          <p:nvPr/>
        </p:nvSpPr>
        <p:spPr>
          <a:xfrm>
            <a:off x="3108960" y="1828800"/>
            <a:ext cx="822960" cy="822960"/>
          </a:xfrm>
          <a:prstGeom prst="ellipse">
            <a:avLst/>
          </a:prstGeom>
          <a:solidFill>
            <a:srgbClr val="1F2A5A"/>
          </a:solidFill>
          <a:ln/>
          <a:effectLst>
            <a:outerShdw blurRad="114300" dist="38100" dir="5400000" algn="bl" rotWithShape="0">
              <a:srgbClr val="000000">
                <a:alpha val="16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pic>
        <p:nvPicPr>
          <p:cNvPr id="8" name="Image 1" descr="/home/claude/assets/ic_globe_w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322930" y="2042770"/>
            <a:ext cx="395021" cy="395021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914400" y="2788920"/>
            <a:ext cx="30175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F2A5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English:</a:t>
            </a:r>
            <a:endParaRPr lang="en-US" sz="1800" dirty="0"/>
          </a:p>
          <a:p>
            <a:pPr marL="0" indent="0">
              <a:buNone/>
            </a:pPr>
            <a:r>
              <a:rPr lang="en-US" sz="1800" b="1" dirty="0">
                <a:solidFill>
                  <a:srgbClr val="1F2A5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From Britain to the World</a:t>
            </a:r>
            <a:endParaRPr lang="en-US" sz="1800" dirty="0"/>
          </a:p>
        </p:txBody>
      </p:sp>
      <p:sp>
        <p:nvSpPr>
          <p:cNvPr id="10" name="Text 6"/>
          <p:cNvSpPr/>
          <p:nvPr/>
        </p:nvSpPr>
        <p:spPr>
          <a:xfrm>
            <a:off x="914400" y="3703320"/>
            <a:ext cx="301752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5A61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History • word origins • global spread • Kachru’s circles • first footsteps in America</a:t>
            </a:r>
            <a:endParaRPr lang="en-US" sz="1250" dirty="0"/>
          </a:p>
        </p:txBody>
      </p:sp>
      <p:sp>
        <p:nvSpPr>
          <p:cNvPr id="11" name="Shape 7"/>
          <p:cNvSpPr/>
          <p:nvPr/>
        </p:nvSpPr>
        <p:spPr>
          <a:xfrm>
            <a:off x="914400" y="5029200"/>
            <a:ext cx="3017520" cy="0"/>
          </a:xfrm>
          <a:prstGeom prst="line">
            <a:avLst/>
          </a:prstGeom>
          <a:noFill/>
          <a:ln w="12700">
            <a:solidFill>
              <a:srgbClr val="E2E2E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8"/>
          <p:cNvSpPr/>
          <p:nvPr/>
        </p:nvSpPr>
        <p:spPr>
          <a:xfrm>
            <a:off x="914400" y="5138928"/>
            <a:ext cx="3017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1F2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▶ </a:t>
            </a:r>
            <a:r>
              <a:rPr lang="en-US" sz="1350" b="1" dirty="0">
                <a:solidFill>
                  <a:srgbClr val="1E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[MINH TAN]</a:t>
            </a:r>
            <a:r>
              <a:rPr lang="en-US" sz="1100" dirty="0">
                <a:solidFill>
                  <a:srgbClr val="9AA0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•   Slides 3–8</a:t>
            </a:r>
            <a:endParaRPr lang="en-US" sz="1350" dirty="0"/>
          </a:p>
        </p:txBody>
      </p:sp>
      <p:sp>
        <p:nvSpPr>
          <p:cNvPr id="13" name="Shape 9"/>
          <p:cNvSpPr/>
          <p:nvPr/>
        </p:nvSpPr>
        <p:spPr>
          <a:xfrm>
            <a:off x="4526280" y="1554480"/>
            <a:ext cx="3566160" cy="4343400"/>
          </a:xfrm>
          <a:prstGeom prst="roundRect">
            <a:avLst>
              <a:gd name="adj" fmla="val 2308"/>
            </a:avLst>
          </a:prstGeom>
          <a:solidFill>
            <a:srgbClr val="FFFFFF"/>
          </a:solidFill>
          <a:ln/>
          <a:effectLst>
            <a:outerShdw blurRad="114300" dist="38100" dir="5400000" algn="bl" rotWithShape="0">
              <a:srgbClr val="000000">
                <a:alpha val="16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4" name="Text 10"/>
          <p:cNvSpPr/>
          <p:nvPr/>
        </p:nvSpPr>
        <p:spPr>
          <a:xfrm>
            <a:off x="4800600" y="1737360"/>
            <a:ext cx="18288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5000" b="1" dirty="0">
                <a:solidFill>
                  <a:srgbClr val="B3194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02</a:t>
            </a:r>
            <a:endParaRPr lang="en-US" sz="5000" dirty="0"/>
          </a:p>
        </p:txBody>
      </p:sp>
      <p:sp>
        <p:nvSpPr>
          <p:cNvPr id="15" name="Shape 11"/>
          <p:cNvSpPr/>
          <p:nvPr/>
        </p:nvSpPr>
        <p:spPr>
          <a:xfrm>
            <a:off x="6995160" y="1828800"/>
            <a:ext cx="822960" cy="822960"/>
          </a:xfrm>
          <a:prstGeom prst="ellipse">
            <a:avLst/>
          </a:prstGeom>
          <a:solidFill>
            <a:srgbClr val="B31942"/>
          </a:solidFill>
          <a:ln/>
          <a:effectLst>
            <a:outerShdw blurRad="114300" dist="38100" dir="5400000" algn="bl" rotWithShape="0">
              <a:srgbClr val="000000">
                <a:alpha val="16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pic>
        <p:nvPicPr>
          <p:cNvPr id="16" name="Image 2" descr="/home/claude/assets/ic_celebrate_w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209130" y="2042770"/>
            <a:ext cx="395021" cy="395021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4800600" y="2788920"/>
            <a:ext cx="30175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F2A5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American English</a:t>
            </a:r>
            <a:endParaRPr lang="en-US" sz="1800" dirty="0"/>
          </a:p>
          <a:p>
            <a:pPr marL="0" indent="0">
              <a:buNone/>
            </a:pPr>
            <a:r>
              <a:rPr lang="en-US" sz="1800" b="1" dirty="0">
                <a:solidFill>
                  <a:srgbClr val="1F2A5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&amp; American Culture</a:t>
            </a:r>
            <a:endParaRPr lang="en-US" sz="1800" dirty="0"/>
          </a:p>
        </p:txBody>
      </p:sp>
      <p:sp>
        <p:nvSpPr>
          <p:cNvPr id="18" name="Text 13"/>
          <p:cNvSpPr/>
          <p:nvPr/>
        </p:nvSpPr>
        <p:spPr>
          <a:xfrm>
            <a:off x="4800600" y="3703320"/>
            <a:ext cx="301752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5A61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Isolation • Webster • melting pot • Thanksgiving • Independence Day</a:t>
            </a:r>
            <a:endParaRPr lang="en-US" sz="1250" dirty="0"/>
          </a:p>
        </p:txBody>
      </p:sp>
      <p:sp>
        <p:nvSpPr>
          <p:cNvPr id="19" name="Shape 14"/>
          <p:cNvSpPr/>
          <p:nvPr/>
        </p:nvSpPr>
        <p:spPr>
          <a:xfrm>
            <a:off x="4800600" y="5029200"/>
            <a:ext cx="3017520" cy="0"/>
          </a:xfrm>
          <a:prstGeom prst="line">
            <a:avLst/>
          </a:prstGeom>
          <a:noFill/>
          <a:ln w="12700">
            <a:solidFill>
              <a:srgbClr val="E2E2E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Text 15"/>
          <p:cNvSpPr/>
          <p:nvPr/>
        </p:nvSpPr>
        <p:spPr>
          <a:xfrm>
            <a:off x="4800600" y="5138928"/>
            <a:ext cx="3017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B319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▶ </a:t>
            </a:r>
            <a:r>
              <a:rPr lang="en-US" sz="1350" b="1" dirty="0">
                <a:solidFill>
                  <a:srgbClr val="1E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[THANH THUY]</a:t>
            </a:r>
            <a:r>
              <a:rPr lang="en-US" sz="1100" dirty="0">
                <a:solidFill>
                  <a:srgbClr val="9AA0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•   Slides 9–14</a:t>
            </a:r>
            <a:endParaRPr lang="en-US" sz="1350" dirty="0"/>
          </a:p>
        </p:txBody>
      </p:sp>
      <p:sp>
        <p:nvSpPr>
          <p:cNvPr id="21" name="Shape 16"/>
          <p:cNvSpPr/>
          <p:nvPr/>
        </p:nvSpPr>
        <p:spPr>
          <a:xfrm>
            <a:off x="8412480" y="1554480"/>
            <a:ext cx="3566160" cy="4343400"/>
          </a:xfrm>
          <a:prstGeom prst="roundRect">
            <a:avLst>
              <a:gd name="adj" fmla="val 2308"/>
            </a:avLst>
          </a:prstGeom>
          <a:solidFill>
            <a:srgbClr val="FFFFFF"/>
          </a:solidFill>
          <a:ln/>
          <a:effectLst>
            <a:outerShdw blurRad="114300" dist="38100" dir="5400000" algn="bl" rotWithShape="0">
              <a:srgbClr val="000000">
                <a:alpha val="16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2" name="Text 17"/>
          <p:cNvSpPr/>
          <p:nvPr/>
        </p:nvSpPr>
        <p:spPr>
          <a:xfrm>
            <a:off x="8686800" y="1737360"/>
            <a:ext cx="18288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5000" b="1" dirty="0">
                <a:solidFill>
                  <a:srgbClr val="E8B84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03</a:t>
            </a:r>
            <a:endParaRPr lang="en-US" sz="5000" dirty="0"/>
          </a:p>
        </p:txBody>
      </p:sp>
      <p:sp>
        <p:nvSpPr>
          <p:cNvPr id="23" name="Shape 18"/>
          <p:cNvSpPr/>
          <p:nvPr/>
        </p:nvSpPr>
        <p:spPr>
          <a:xfrm>
            <a:off x="10881360" y="1828800"/>
            <a:ext cx="822960" cy="822960"/>
          </a:xfrm>
          <a:prstGeom prst="ellipse">
            <a:avLst/>
          </a:prstGeom>
          <a:solidFill>
            <a:srgbClr val="E8B84B"/>
          </a:solidFill>
          <a:ln/>
          <a:effectLst>
            <a:outerShdw blurRad="114300" dist="38100" dir="5400000" algn="bl" rotWithShape="0">
              <a:srgbClr val="000000">
                <a:alpha val="16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pic>
        <p:nvPicPr>
          <p:cNvPr id="24" name="Image 3" descr="/home/claude/assets/ic_comments_n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1095330" y="2042770"/>
            <a:ext cx="395021" cy="395021"/>
          </a:xfrm>
          <a:prstGeom prst="rect">
            <a:avLst/>
          </a:prstGeom>
        </p:spPr>
      </p:pic>
      <p:sp>
        <p:nvSpPr>
          <p:cNvPr id="25" name="Text 19"/>
          <p:cNvSpPr/>
          <p:nvPr/>
        </p:nvSpPr>
        <p:spPr>
          <a:xfrm>
            <a:off x="8686800" y="2788920"/>
            <a:ext cx="30175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F2A5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American vs</a:t>
            </a:r>
            <a:endParaRPr lang="en-US" sz="1800" dirty="0"/>
          </a:p>
          <a:p>
            <a:pPr marL="0" indent="0">
              <a:buNone/>
            </a:pPr>
            <a:r>
              <a:rPr lang="en-US" sz="1800" b="1" dirty="0">
                <a:solidFill>
                  <a:srgbClr val="1F2A5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British English</a:t>
            </a:r>
            <a:endParaRPr lang="en-US" sz="1800" dirty="0"/>
          </a:p>
        </p:txBody>
      </p:sp>
      <p:sp>
        <p:nvSpPr>
          <p:cNvPr id="26" name="Text 20"/>
          <p:cNvSpPr/>
          <p:nvPr/>
        </p:nvSpPr>
        <p:spPr>
          <a:xfrm>
            <a:off x="8686800" y="3703320"/>
            <a:ext cx="301752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5A61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Pronunciation • vocabulary • grammar • spelling</a:t>
            </a:r>
            <a:endParaRPr lang="en-US" sz="1250" dirty="0"/>
          </a:p>
        </p:txBody>
      </p:sp>
      <p:sp>
        <p:nvSpPr>
          <p:cNvPr id="27" name="Shape 21"/>
          <p:cNvSpPr/>
          <p:nvPr/>
        </p:nvSpPr>
        <p:spPr>
          <a:xfrm>
            <a:off x="8686800" y="5029200"/>
            <a:ext cx="3017520" cy="0"/>
          </a:xfrm>
          <a:prstGeom prst="line">
            <a:avLst/>
          </a:prstGeom>
          <a:noFill/>
          <a:ln w="12700">
            <a:solidFill>
              <a:srgbClr val="E2E2E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8" name="Text 22"/>
          <p:cNvSpPr/>
          <p:nvPr/>
        </p:nvSpPr>
        <p:spPr>
          <a:xfrm>
            <a:off x="8686800" y="5138928"/>
            <a:ext cx="3017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E8B8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▶ </a:t>
            </a:r>
            <a:r>
              <a:rPr lang="en-US" sz="1350" b="1" dirty="0">
                <a:solidFill>
                  <a:srgbClr val="1E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[MINH TAM]</a:t>
            </a:r>
            <a:r>
              <a:rPr lang="en-US" sz="1100" dirty="0">
                <a:solidFill>
                  <a:srgbClr val="9AA0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•   Slides 15–19</a:t>
            </a:r>
            <a:endParaRPr lang="en-US" sz="1350" dirty="0"/>
          </a:p>
        </p:txBody>
      </p:sp>
      <p:sp>
        <p:nvSpPr>
          <p:cNvPr id="29" name="Text 23"/>
          <p:cNvSpPr/>
          <p:nvPr/>
        </p:nvSpPr>
        <p:spPr>
          <a:xfrm>
            <a:off x="8229600" y="6400800"/>
            <a:ext cx="3657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50" i="1" dirty="0">
                <a:solidFill>
                  <a:srgbClr val="9AA0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~15 min  •  3 presenters  •  21 slides</a:t>
            </a:r>
            <a:endParaRPr lang="en-US" sz="9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1371600"/>
            <a:ext cx="365760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0" b="1" dirty="0">
                <a:solidFill>
                  <a:srgbClr val="2E3E7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01</a:t>
            </a:r>
            <a:endParaRPr lang="en-US" sz="15000" dirty="0"/>
          </a:p>
        </p:txBody>
      </p:sp>
      <p:sp>
        <p:nvSpPr>
          <p:cNvPr id="3" name="Shape 1"/>
          <p:cNvSpPr/>
          <p:nvPr/>
        </p:nvSpPr>
        <p:spPr>
          <a:xfrm>
            <a:off x="9052560" y="2011680"/>
            <a:ext cx="1554480" cy="1554480"/>
          </a:xfrm>
          <a:prstGeom prst="ellipse">
            <a:avLst/>
          </a:prstGeom>
          <a:solidFill>
            <a:srgbClr val="B31942"/>
          </a:solidFill>
          <a:ln/>
          <a:effectLst>
            <a:outerShdw blurRad="114300" dist="38100" dir="5400000" algn="bl" rotWithShape="0">
              <a:srgbClr val="000000">
                <a:alpha val="16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pic>
        <p:nvPicPr>
          <p:cNvPr id="4" name="Image 0" descr="/home/claude/assets/ic_globe_w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456725" y="2415845"/>
            <a:ext cx="746150" cy="74615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868680" y="3566160"/>
            <a:ext cx="100584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English: From Britain to the World</a:t>
            </a:r>
            <a:endParaRPr lang="en-US" sz="3800" dirty="0"/>
          </a:p>
        </p:txBody>
      </p:sp>
      <p:sp>
        <p:nvSpPr>
          <p:cNvPr id="6" name="Text 3"/>
          <p:cNvSpPr/>
          <p:nvPr/>
        </p:nvSpPr>
        <p:spPr>
          <a:xfrm>
            <a:off x="914400" y="4572000"/>
            <a:ext cx="9601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i="1" dirty="0">
                <a:solidFill>
                  <a:srgbClr val="E8B8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History, word origins, global spread — and the first steps into America</a:t>
            </a:r>
            <a:endParaRPr lang="en-US" sz="1600" dirty="0"/>
          </a:p>
        </p:txBody>
      </p:sp>
      <p:sp>
        <p:nvSpPr>
          <p:cNvPr id="7" name="Text 4"/>
          <p:cNvSpPr/>
          <p:nvPr/>
        </p:nvSpPr>
        <p:spPr>
          <a:xfrm>
            <a:off x="914400" y="5212080"/>
            <a:ext cx="9144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AEB6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Presented by  </a:t>
            </a: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[MINH TAN]</a:t>
            </a:r>
            <a:endParaRPr lang="en-US" sz="15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BF7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384048"/>
            <a:ext cx="713232" cy="713232"/>
          </a:xfrm>
          <a:prstGeom prst="ellipse">
            <a:avLst/>
          </a:prstGeom>
          <a:solidFill>
            <a:srgbClr val="B31942"/>
          </a:solidFill>
          <a:ln/>
          <a:effectLst>
            <a:outerShdw blurRad="114300" dist="38100" dir="5400000" algn="bl" rotWithShape="0">
              <a:srgbClr val="000000">
                <a:alpha val="16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pic>
        <p:nvPicPr>
          <p:cNvPr id="3" name="Image 0" descr="/home/claude/assets/ic_feather_w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4080" y="569488"/>
            <a:ext cx="342351" cy="342351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417320" y="384048"/>
            <a:ext cx="1014984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1F2A5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Short History of English</a:t>
            </a:r>
            <a:endParaRPr lang="en-US" sz="2700" dirty="0"/>
          </a:p>
        </p:txBody>
      </p:sp>
      <p:sp>
        <p:nvSpPr>
          <p:cNvPr id="5" name="Shape 2"/>
          <p:cNvSpPr/>
          <p:nvPr/>
        </p:nvSpPr>
        <p:spPr>
          <a:xfrm>
            <a:off x="914400" y="2971800"/>
            <a:ext cx="10332720" cy="0"/>
          </a:xfrm>
          <a:prstGeom prst="line">
            <a:avLst/>
          </a:prstGeom>
          <a:noFill/>
          <a:ln w="25400">
            <a:solidFill>
              <a:srgbClr val="D9C7A0"/>
            </a:solidFill>
            <a:prstDash val="dash"/>
          </a:ln>
        </p:spPr>
        <p:txBody>
          <a:bodyPr/>
          <a:lstStyle/>
          <a:p>
            <a:endParaRPr lang="en-US"/>
          </a:p>
        </p:txBody>
      </p:sp>
      <p:sp>
        <p:nvSpPr>
          <p:cNvPr id="6" name="Shape 3"/>
          <p:cNvSpPr/>
          <p:nvPr/>
        </p:nvSpPr>
        <p:spPr>
          <a:xfrm>
            <a:off x="1472184" y="2468880"/>
            <a:ext cx="1005840" cy="1005840"/>
          </a:xfrm>
          <a:prstGeom prst="ellipse">
            <a:avLst/>
          </a:prstGeom>
          <a:solidFill>
            <a:srgbClr val="B31942"/>
          </a:solidFill>
          <a:ln/>
          <a:effectLst>
            <a:outerShdw blurRad="114300" dist="38100" dir="5400000" algn="bl" rotWithShape="0">
              <a:srgbClr val="000000">
                <a:alpha val="16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pic>
        <p:nvPicPr>
          <p:cNvPr id="7" name="Image 1" descr="/home/claude/assets/ic_feather_w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733702" y="2730398"/>
            <a:ext cx="482803" cy="482803"/>
          </a:xfrm>
          <a:prstGeom prst="rect">
            <a:avLst/>
          </a:prstGeom>
        </p:spPr>
      </p:pic>
      <p:sp>
        <p:nvSpPr>
          <p:cNvPr id="8" name="Shape 4"/>
          <p:cNvSpPr/>
          <p:nvPr/>
        </p:nvSpPr>
        <p:spPr>
          <a:xfrm>
            <a:off x="640080" y="3703320"/>
            <a:ext cx="2670048" cy="2331720"/>
          </a:xfrm>
          <a:prstGeom prst="roundRect">
            <a:avLst>
              <a:gd name="adj" fmla="val 3529"/>
            </a:avLst>
          </a:prstGeom>
          <a:solidFill>
            <a:srgbClr val="FFFFFF"/>
          </a:solidFill>
          <a:ln/>
          <a:effectLst>
            <a:outerShdw blurRad="114300" dist="38100" dir="5400000" algn="bl" rotWithShape="0">
              <a:srgbClr val="000000">
                <a:alpha val="16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9" name="Text 5"/>
          <p:cNvSpPr/>
          <p:nvPr/>
        </p:nvSpPr>
        <p:spPr>
          <a:xfrm>
            <a:off x="841248" y="3840480"/>
            <a:ext cx="226771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1F2A5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Old English</a:t>
            </a:r>
            <a:endParaRPr lang="en-US" sz="1700" dirty="0"/>
          </a:p>
        </p:txBody>
      </p:sp>
      <p:sp>
        <p:nvSpPr>
          <p:cNvPr id="10" name="Text 6"/>
          <p:cNvSpPr/>
          <p:nvPr/>
        </p:nvSpPr>
        <p:spPr>
          <a:xfrm>
            <a:off x="841248" y="4279392"/>
            <a:ext cx="226771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B319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5th c. – 1066</a:t>
            </a:r>
            <a:endParaRPr lang="en-US" sz="1300" dirty="0"/>
          </a:p>
        </p:txBody>
      </p:sp>
      <p:sp>
        <p:nvSpPr>
          <p:cNvPr id="11" name="Text 7"/>
          <p:cNvSpPr/>
          <p:nvPr/>
        </p:nvSpPr>
        <p:spPr>
          <a:xfrm>
            <a:off x="841248" y="4709160"/>
            <a:ext cx="2267712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dirty="0">
                <a:solidFill>
                  <a:srgbClr val="5A61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Germanic tribes (Angles, Saxons, Jutes) settle Britain</a:t>
            </a:r>
            <a:endParaRPr lang="en-US" sz="1250" dirty="0"/>
          </a:p>
        </p:txBody>
      </p:sp>
      <p:sp>
        <p:nvSpPr>
          <p:cNvPr id="12" name="Shape 8"/>
          <p:cNvSpPr/>
          <p:nvPr/>
        </p:nvSpPr>
        <p:spPr>
          <a:xfrm>
            <a:off x="4370832" y="2468880"/>
            <a:ext cx="1005840" cy="1005840"/>
          </a:xfrm>
          <a:prstGeom prst="ellipse">
            <a:avLst/>
          </a:prstGeom>
          <a:solidFill>
            <a:srgbClr val="1F2A5A"/>
          </a:solidFill>
          <a:ln/>
          <a:effectLst>
            <a:outerShdw blurRad="114300" dist="38100" dir="5400000" algn="bl" rotWithShape="0">
              <a:srgbClr val="000000">
                <a:alpha val="16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pic>
        <p:nvPicPr>
          <p:cNvPr id="13" name="Image 2" descr="/home/claude/assets/ic_scroll_w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632350" y="2730398"/>
            <a:ext cx="482803" cy="482803"/>
          </a:xfrm>
          <a:prstGeom prst="rect">
            <a:avLst/>
          </a:prstGeom>
        </p:spPr>
      </p:pic>
      <p:sp>
        <p:nvSpPr>
          <p:cNvPr id="14" name="Shape 9"/>
          <p:cNvSpPr/>
          <p:nvPr/>
        </p:nvSpPr>
        <p:spPr>
          <a:xfrm>
            <a:off x="3538728" y="3703320"/>
            <a:ext cx="2670048" cy="2331720"/>
          </a:xfrm>
          <a:prstGeom prst="roundRect">
            <a:avLst>
              <a:gd name="adj" fmla="val 3529"/>
            </a:avLst>
          </a:prstGeom>
          <a:solidFill>
            <a:srgbClr val="FFFFFF"/>
          </a:solidFill>
          <a:ln/>
          <a:effectLst>
            <a:outerShdw blurRad="114300" dist="38100" dir="5400000" algn="bl" rotWithShape="0">
              <a:srgbClr val="000000">
                <a:alpha val="16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5" name="Text 10"/>
          <p:cNvSpPr/>
          <p:nvPr/>
        </p:nvSpPr>
        <p:spPr>
          <a:xfrm>
            <a:off x="3739896" y="3840480"/>
            <a:ext cx="226771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1F2A5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Middle English</a:t>
            </a:r>
            <a:endParaRPr lang="en-US" sz="1700" dirty="0"/>
          </a:p>
        </p:txBody>
      </p:sp>
      <p:sp>
        <p:nvSpPr>
          <p:cNvPr id="16" name="Text 11"/>
          <p:cNvSpPr/>
          <p:nvPr/>
        </p:nvSpPr>
        <p:spPr>
          <a:xfrm>
            <a:off x="3739896" y="4279392"/>
            <a:ext cx="226771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F2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1066 – 1450</a:t>
            </a:r>
            <a:endParaRPr lang="en-US" sz="1300" dirty="0"/>
          </a:p>
        </p:txBody>
      </p:sp>
      <p:sp>
        <p:nvSpPr>
          <p:cNvPr id="17" name="Text 12"/>
          <p:cNvSpPr/>
          <p:nvPr/>
        </p:nvSpPr>
        <p:spPr>
          <a:xfrm>
            <a:off x="3739896" y="4709160"/>
            <a:ext cx="2267712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dirty="0">
                <a:solidFill>
                  <a:srgbClr val="5A61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Norman Conquest brings heavy French &amp; Latin influence</a:t>
            </a:r>
            <a:endParaRPr lang="en-US" sz="1250" dirty="0"/>
          </a:p>
        </p:txBody>
      </p:sp>
      <p:sp>
        <p:nvSpPr>
          <p:cNvPr id="18" name="Shape 13"/>
          <p:cNvSpPr/>
          <p:nvPr/>
        </p:nvSpPr>
        <p:spPr>
          <a:xfrm>
            <a:off x="7269480" y="2468880"/>
            <a:ext cx="1005840" cy="1005840"/>
          </a:xfrm>
          <a:prstGeom prst="ellipse">
            <a:avLst/>
          </a:prstGeom>
          <a:solidFill>
            <a:srgbClr val="E8B84B"/>
          </a:solidFill>
          <a:ln/>
          <a:effectLst>
            <a:outerShdw blurRad="114300" dist="38100" dir="5400000" algn="bl" rotWithShape="0">
              <a:srgbClr val="000000">
                <a:alpha val="16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pic>
        <p:nvPicPr>
          <p:cNvPr id="19" name="Image 3" descr="/home/claude/assets/ic_print_n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530998" y="2730398"/>
            <a:ext cx="482803" cy="482803"/>
          </a:xfrm>
          <a:prstGeom prst="rect">
            <a:avLst/>
          </a:prstGeom>
        </p:spPr>
      </p:pic>
      <p:sp>
        <p:nvSpPr>
          <p:cNvPr id="20" name="Shape 14"/>
          <p:cNvSpPr/>
          <p:nvPr/>
        </p:nvSpPr>
        <p:spPr>
          <a:xfrm>
            <a:off x="6437376" y="3703320"/>
            <a:ext cx="2670048" cy="2331720"/>
          </a:xfrm>
          <a:prstGeom prst="roundRect">
            <a:avLst>
              <a:gd name="adj" fmla="val 3529"/>
            </a:avLst>
          </a:prstGeom>
          <a:solidFill>
            <a:srgbClr val="FFFFFF"/>
          </a:solidFill>
          <a:ln/>
          <a:effectLst>
            <a:outerShdw blurRad="114300" dist="38100" dir="5400000" algn="bl" rotWithShape="0">
              <a:srgbClr val="000000">
                <a:alpha val="16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1" name="Text 15"/>
          <p:cNvSpPr/>
          <p:nvPr/>
        </p:nvSpPr>
        <p:spPr>
          <a:xfrm>
            <a:off x="6638544" y="3840480"/>
            <a:ext cx="226771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1F2A5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Early Modern</a:t>
            </a:r>
            <a:endParaRPr lang="en-US" sz="1700" dirty="0"/>
          </a:p>
        </p:txBody>
      </p:sp>
      <p:sp>
        <p:nvSpPr>
          <p:cNvPr id="22" name="Text 16"/>
          <p:cNvSpPr/>
          <p:nvPr/>
        </p:nvSpPr>
        <p:spPr>
          <a:xfrm>
            <a:off x="6638544" y="4279392"/>
            <a:ext cx="226771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E8B8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1450 – 1700</a:t>
            </a:r>
            <a:endParaRPr lang="en-US" sz="1300" dirty="0"/>
          </a:p>
        </p:txBody>
      </p:sp>
      <p:sp>
        <p:nvSpPr>
          <p:cNvPr id="23" name="Text 17"/>
          <p:cNvSpPr/>
          <p:nvPr/>
        </p:nvSpPr>
        <p:spPr>
          <a:xfrm>
            <a:off x="6638544" y="4709160"/>
            <a:ext cx="2267712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dirty="0">
                <a:solidFill>
                  <a:srgbClr val="5A61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Great Vowel Shift; printing press (1476); Shakespeare</a:t>
            </a:r>
            <a:endParaRPr lang="en-US" sz="1250" dirty="0"/>
          </a:p>
        </p:txBody>
      </p:sp>
      <p:sp>
        <p:nvSpPr>
          <p:cNvPr id="24" name="Shape 18"/>
          <p:cNvSpPr/>
          <p:nvPr/>
        </p:nvSpPr>
        <p:spPr>
          <a:xfrm>
            <a:off x="10168128" y="2468880"/>
            <a:ext cx="1005840" cy="1005840"/>
          </a:xfrm>
          <a:prstGeom prst="ellipse">
            <a:avLst/>
          </a:prstGeom>
          <a:solidFill>
            <a:srgbClr val="B31942"/>
          </a:solidFill>
          <a:ln/>
          <a:effectLst>
            <a:outerShdw blurRad="114300" dist="38100" dir="5400000" algn="bl" rotWithShape="0">
              <a:srgbClr val="000000">
                <a:alpha val="16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pic>
        <p:nvPicPr>
          <p:cNvPr id="25" name="Image 4" descr="/home/claude/assets/ic_globe_w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429646" y="2730398"/>
            <a:ext cx="482803" cy="482803"/>
          </a:xfrm>
          <a:prstGeom prst="rect">
            <a:avLst/>
          </a:prstGeom>
        </p:spPr>
      </p:pic>
      <p:sp>
        <p:nvSpPr>
          <p:cNvPr id="26" name="Shape 19"/>
          <p:cNvSpPr/>
          <p:nvPr/>
        </p:nvSpPr>
        <p:spPr>
          <a:xfrm>
            <a:off x="9336024" y="3703320"/>
            <a:ext cx="2670048" cy="2331720"/>
          </a:xfrm>
          <a:prstGeom prst="roundRect">
            <a:avLst>
              <a:gd name="adj" fmla="val 3529"/>
            </a:avLst>
          </a:prstGeom>
          <a:solidFill>
            <a:srgbClr val="FFFFFF"/>
          </a:solidFill>
          <a:ln/>
          <a:effectLst>
            <a:outerShdw blurRad="114300" dist="38100" dir="5400000" algn="bl" rotWithShape="0">
              <a:srgbClr val="000000">
                <a:alpha val="16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7" name="Text 20"/>
          <p:cNvSpPr/>
          <p:nvPr/>
        </p:nvSpPr>
        <p:spPr>
          <a:xfrm>
            <a:off x="9537192" y="3840480"/>
            <a:ext cx="226771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1F2A5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Modern English</a:t>
            </a:r>
            <a:endParaRPr lang="en-US" sz="1700" dirty="0"/>
          </a:p>
        </p:txBody>
      </p:sp>
      <p:sp>
        <p:nvSpPr>
          <p:cNvPr id="28" name="Text 21"/>
          <p:cNvSpPr/>
          <p:nvPr/>
        </p:nvSpPr>
        <p:spPr>
          <a:xfrm>
            <a:off x="9537192" y="4279392"/>
            <a:ext cx="226771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B319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1700 – now</a:t>
            </a:r>
            <a:endParaRPr lang="en-US" sz="1300" dirty="0"/>
          </a:p>
        </p:txBody>
      </p:sp>
      <p:sp>
        <p:nvSpPr>
          <p:cNvPr id="29" name="Text 22"/>
          <p:cNvSpPr/>
          <p:nvPr/>
        </p:nvSpPr>
        <p:spPr>
          <a:xfrm>
            <a:off x="9537192" y="4709160"/>
            <a:ext cx="2267712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dirty="0">
                <a:solidFill>
                  <a:srgbClr val="5A61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Standardised and spread worldwide as a global language</a:t>
            </a:r>
            <a:endParaRPr lang="en-US" sz="1250" dirty="0"/>
          </a:p>
        </p:txBody>
      </p:sp>
      <p:sp>
        <p:nvSpPr>
          <p:cNvPr id="30" name="Text 23"/>
          <p:cNvSpPr/>
          <p:nvPr/>
        </p:nvSpPr>
        <p:spPr>
          <a:xfrm>
            <a:off x="640080" y="1234440"/>
            <a:ext cx="10881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5A61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1066 — the Norman Conquest — is the single most important turning point in the history of English.</a:t>
            </a:r>
            <a:endParaRPr lang="en-US" sz="1400" dirty="0"/>
          </a:p>
        </p:txBody>
      </p:sp>
      <p:sp>
        <p:nvSpPr>
          <p:cNvPr id="31" name="Text 24"/>
          <p:cNvSpPr/>
          <p:nvPr/>
        </p:nvSpPr>
        <p:spPr>
          <a:xfrm>
            <a:off x="8229600" y="6400800"/>
            <a:ext cx="3657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50" i="1" dirty="0">
                <a:solidFill>
                  <a:srgbClr val="9AA0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Source: Crystal (2003)</a:t>
            </a:r>
            <a:endParaRPr lang="en-US" sz="9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BF7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384048"/>
            <a:ext cx="713232" cy="713232"/>
          </a:xfrm>
          <a:prstGeom prst="ellipse">
            <a:avLst/>
          </a:prstGeom>
          <a:solidFill>
            <a:srgbClr val="1F2A5A"/>
          </a:solidFill>
          <a:ln/>
          <a:effectLst>
            <a:outerShdw blurRad="114300" dist="38100" dir="5400000" algn="bl" rotWithShape="0">
              <a:srgbClr val="000000">
                <a:alpha val="16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pic>
        <p:nvPicPr>
          <p:cNvPr id="3" name="Image 0" descr="/home/claude/assets/ic_globe_w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4080" y="569488"/>
            <a:ext cx="342351" cy="342351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417320" y="384048"/>
            <a:ext cx="1014984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1F2A5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Why &amp; How English Went Global</a:t>
            </a:r>
            <a:endParaRPr lang="en-US" sz="2700" dirty="0"/>
          </a:p>
        </p:txBody>
      </p:sp>
      <p:sp>
        <p:nvSpPr>
          <p:cNvPr id="5" name="Shape 2"/>
          <p:cNvSpPr/>
          <p:nvPr/>
        </p:nvSpPr>
        <p:spPr>
          <a:xfrm>
            <a:off x="640080" y="1463040"/>
            <a:ext cx="5212080" cy="1325880"/>
          </a:xfrm>
          <a:prstGeom prst="roundRect">
            <a:avLst>
              <a:gd name="adj" fmla="val 6207"/>
            </a:avLst>
          </a:prstGeom>
          <a:solidFill>
            <a:srgbClr val="FFFFFF"/>
          </a:solidFill>
          <a:ln/>
          <a:effectLst>
            <a:outerShdw blurRad="114300" dist="38100" dir="5400000" algn="bl" rotWithShape="0">
              <a:srgbClr val="000000">
                <a:alpha val="16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6" name="Shape 3"/>
          <p:cNvSpPr/>
          <p:nvPr/>
        </p:nvSpPr>
        <p:spPr>
          <a:xfrm>
            <a:off x="841248" y="1737360"/>
            <a:ext cx="777240" cy="777240"/>
          </a:xfrm>
          <a:prstGeom prst="ellipse">
            <a:avLst/>
          </a:prstGeom>
          <a:solidFill>
            <a:srgbClr val="E8B84B"/>
          </a:solidFill>
          <a:ln/>
          <a:effectLst>
            <a:outerShdw blurRad="114300" dist="38100" dir="5400000" algn="bl" rotWithShape="0">
              <a:srgbClr val="000000">
                <a:alpha val="16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pic>
        <p:nvPicPr>
          <p:cNvPr id="7" name="Image 1" descr="/home/claude/assets/ic_crown_n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43330" y="1939442"/>
            <a:ext cx="373075" cy="373075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1828800" y="1645920"/>
            <a:ext cx="3840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1F2A5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British Empire</a:t>
            </a:r>
            <a:endParaRPr lang="en-US" sz="1700" dirty="0"/>
          </a:p>
        </p:txBody>
      </p:sp>
      <p:sp>
        <p:nvSpPr>
          <p:cNvPr id="9" name="Text 5"/>
          <p:cNvSpPr/>
          <p:nvPr/>
        </p:nvSpPr>
        <p:spPr>
          <a:xfrm>
            <a:off x="1828800" y="2029968"/>
            <a:ext cx="3886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5A61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Colonies (17th–20th c.) planted English worldwide.</a:t>
            </a:r>
            <a:endParaRPr lang="en-US" sz="1250" dirty="0"/>
          </a:p>
        </p:txBody>
      </p:sp>
      <p:sp>
        <p:nvSpPr>
          <p:cNvPr id="10" name="Shape 6"/>
          <p:cNvSpPr/>
          <p:nvPr/>
        </p:nvSpPr>
        <p:spPr>
          <a:xfrm>
            <a:off x="640080" y="2944368"/>
            <a:ext cx="5212080" cy="1325880"/>
          </a:xfrm>
          <a:prstGeom prst="roundRect">
            <a:avLst>
              <a:gd name="adj" fmla="val 6207"/>
            </a:avLst>
          </a:prstGeom>
          <a:solidFill>
            <a:srgbClr val="FFFFFF"/>
          </a:solidFill>
          <a:ln/>
          <a:effectLst>
            <a:outerShdw blurRad="114300" dist="38100" dir="5400000" algn="bl" rotWithShape="0">
              <a:srgbClr val="000000">
                <a:alpha val="16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1" name="Shape 7"/>
          <p:cNvSpPr/>
          <p:nvPr/>
        </p:nvSpPr>
        <p:spPr>
          <a:xfrm>
            <a:off x="841248" y="3218688"/>
            <a:ext cx="777240" cy="777240"/>
          </a:xfrm>
          <a:prstGeom prst="ellipse">
            <a:avLst/>
          </a:prstGeom>
          <a:solidFill>
            <a:srgbClr val="B31942"/>
          </a:solidFill>
          <a:ln/>
          <a:effectLst>
            <a:outerShdw blurRad="114300" dist="38100" dir="5400000" algn="bl" rotWithShape="0">
              <a:srgbClr val="000000">
                <a:alpha val="16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pic>
        <p:nvPicPr>
          <p:cNvPr id="12" name="Image 2" descr="/home/claude/assets/ic_film_w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43330" y="3420770"/>
            <a:ext cx="373075" cy="373075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1828800" y="3127248"/>
            <a:ext cx="3840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1F2A5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Rise of the USA</a:t>
            </a:r>
            <a:endParaRPr lang="en-US" sz="1700" dirty="0"/>
          </a:p>
        </p:txBody>
      </p:sp>
      <p:sp>
        <p:nvSpPr>
          <p:cNvPr id="14" name="Text 9"/>
          <p:cNvSpPr/>
          <p:nvPr/>
        </p:nvSpPr>
        <p:spPr>
          <a:xfrm>
            <a:off x="1828800" y="3511296"/>
            <a:ext cx="3886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5A61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Post-WWII economy + Hollywood, music and TV.</a:t>
            </a:r>
            <a:endParaRPr lang="en-US" sz="1250" dirty="0"/>
          </a:p>
        </p:txBody>
      </p:sp>
      <p:sp>
        <p:nvSpPr>
          <p:cNvPr id="15" name="Shape 10"/>
          <p:cNvSpPr/>
          <p:nvPr/>
        </p:nvSpPr>
        <p:spPr>
          <a:xfrm>
            <a:off x="640080" y="4425696"/>
            <a:ext cx="5212080" cy="1325880"/>
          </a:xfrm>
          <a:prstGeom prst="roundRect">
            <a:avLst>
              <a:gd name="adj" fmla="val 6207"/>
            </a:avLst>
          </a:prstGeom>
          <a:solidFill>
            <a:srgbClr val="FFFFFF"/>
          </a:solidFill>
          <a:ln/>
          <a:effectLst>
            <a:outerShdw blurRad="114300" dist="38100" dir="5400000" algn="bl" rotWithShape="0">
              <a:srgbClr val="000000">
                <a:alpha val="16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6" name="Shape 11"/>
          <p:cNvSpPr/>
          <p:nvPr/>
        </p:nvSpPr>
        <p:spPr>
          <a:xfrm>
            <a:off x="841248" y="4700016"/>
            <a:ext cx="777240" cy="777240"/>
          </a:xfrm>
          <a:prstGeom prst="ellipse">
            <a:avLst/>
          </a:prstGeom>
          <a:solidFill>
            <a:srgbClr val="1F2A5A"/>
          </a:solidFill>
          <a:ln/>
          <a:effectLst>
            <a:outerShdw blurRad="114300" dist="38100" dir="5400000" algn="bl" rotWithShape="0">
              <a:srgbClr val="000000">
                <a:alpha val="16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pic>
        <p:nvPicPr>
          <p:cNvPr id="17" name="Image 3" descr="/home/claude/assets/ic_wifi_w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43330" y="4902098"/>
            <a:ext cx="373075" cy="373075"/>
          </a:xfrm>
          <a:prstGeom prst="rect">
            <a:avLst/>
          </a:prstGeom>
        </p:spPr>
      </p:pic>
      <p:sp>
        <p:nvSpPr>
          <p:cNvPr id="18" name="Text 12"/>
          <p:cNvSpPr/>
          <p:nvPr/>
        </p:nvSpPr>
        <p:spPr>
          <a:xfrm>
            <a:off x="1828800" y="4608576"/>
            <a:ext cx="3840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1F2A5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Internet Age</a:t>
            </a:r>
            <a:endParaRPr lang="en-US" sz="1700" dirty="0"/>
          </a:p>
        </p:txBody>
      </p:sp>
      <p:sp>
        <p:nvSpPr>
          <p:cNvPr id="19" name="Text 13"/>
          <p:cNvSpPr/>
          <p:nvPr/>
        </p:nvSpPr>
        <p:spPr>
          <a:xfrm>
            <a:off x="1828800" y="4992624"/>
            <a:ext cx="3886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5A61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US-led digital technology made English the default online.</a:t>
            </a:r>
            <a:endParaRPr lang="en-US" sz="1250" dirty="0"/>
          </a:p>
        </p:txBody>
      </p:sp>
      <p:sp>
        <p:nvSpPr>
          <p:cNvPr id="20" name="Text 14"/>
          <p:cNvSpPr/>
          <p:nvPr/>
        </p:nvSpPr>
        <p:spPr>
          <a:xfrm>
            <a:off x="6217920" y="137160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B3194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From 6 million to 1.5 billion speakers</a:t>
            </a:r>
            <a:endParaRPr lang="en-US" sz="1700" dirty="0"/>
          </a:p>
        </p:txBody>
      </p:sp>
      <p:graphicFrame>
        <p:nvGraphicFramePr>
          <p:cNvPr id="21" name="Chart 0"/>
          <p:cNvGraphicFramePr/>
          <p:nvPr/>
        </p:nvGraphicFramePr>
        <p:xfrm>
          <a:off x="6126480" y="1783080"/>
          <a:ext cx="5486400" cy="329184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7"/>
          </a:graphicData>
        </a:graphic>
      </p:graphicFrame>
      <p:sp>
        <p:nvSpPr>
          <p:cNvPr id="22" name="Shape 15"/>
          <p:cNvSpPr/>
          <p:nvPr/>
        </p:nvSpPr>
        <p:spPr>
          <a:xfrm>
            <a:off x="6126480" y="5257800"/>
            <a:ext cx="5486400" cy="777240"/>
          </a:xfrm>
          <a:prstGeom prst="roundRect">
            <a:avLst>
              <a:gd name="adj" fmla="val 10588"/>
            </a:avLst>
          </a:prstGeom>
          <a:solidFill>
            <a:srgbClr val="EEF1F8"/>
          </a:solidFill>
          <a:ln/>
          <a:effectLst>
            <a:outerShdw blurRad="101600" dist="38100" dir="16200000" algn="bl" rotWithShape="0">
              <a:srgbClr val="000000">
                <a:alpha val="14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3" name="Text 16"/>
          <p:cNvSpPr/>
          <p:nvPr/>
        </p:nvSpPr>
        <p:spPr>
          <a:xfrm>
            <a:off x="6309360" y="5349240"/>
            <a:ext cx="51206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F2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English is now the working language of the UN, the EU and NATO.</a:t>
            </a:r>
            <a:endParaRPr lang="en-US" sz="1300" dirty="0"/>
          </a:p>
        </p:txBody>
      </p:sp>
      <p:sp>
        <p:nvSpPr>
          <p:cNvPr id="24" name="Text 17"/>
          <p:cNvSpPr/>
          <p:nvPr/>
        </p:nvSpPr>
        <p:spPr>
          <a:xfrm>
            <a:off x="8229600" y="6400800"/>
            <a:ext cx="3657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50" i="1" dirty="0">
                <a:solidFill>
                  <a:srgbClr val="9AA0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Estimates: Crystal (2003); Ethnologue (2026)</a:t>
            </a:r>
            <a:endParaRPr lang="en-US" sz="9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BF7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384048"/>
            <a:ext cx="713232" cy="713232"/>
          </a:xfrm>
          <a:prstGeom prst="ellipse">
            <a:avLst/>
          </a:prstGeom>
          <a:solidFill>
            <a:srgbClr val="B31942"/>
          </a:solidFill>
          <a:ln/>
          <a:effectLst>
            <a:outerShdw blurRad="114300" dist="38100" dir="5400000" algn="bl" rotWithShape="0">
              <a:srgbClr val="000000">
                <a:alpha val="16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pic>
        <p:nvPicPr>
          <p:cNvPr id="3" name="Image 0" descr="/home/claude/assets/ic_ship_w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4080" y="569488"/>
            <a:ext cx="342351" cy="342351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417320" y="384048"/>
            <a:ext cx="1014984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1F2A5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First Footsteps American English (17th Century)</a:t>
            </a:r>
            <a:endParaRPr lang="en-US" sz="2700" dirty="0"/>
          </a:p>
        </p:txBody>
      </p:sp>
      <p:pic>
        <p:nvPicPr>
          <p:cNvPr id="5" name="Image 1" descr="/home/claude/assets/atlantic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0080" y="1234440"/>
            <a:ext cx="10881360" cy="1417320"/>
          </a:xfrm>
          <a:prstGeom prst="rect">
            <a:avLst/>
          </a:prstGeom>
        </p:spPr>
      </p:pic>
      <p:sp>
        <p:nvSpPr>
          <p:cNvPr id="6" name="Text 2"/>
          <p:cNvSpPr/>
          <p:nvPr/>
        </p:nvSpPr>
        <p:spPr>
          <a:xfrm>
            <a:off x="8732520" y="1847088"/>
            <a:ext cx="1554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Britain</a:t>
            </a:r>
            <a:endParaRPr lang="en-US" sz="1100" dirty="0"/>
          </a:p>
        </p:txBody>
      </p:sp>
      <p:sp>
        <p:nvSpPr>
          <p:cNvPr id="7" name="Text 3"/>
          <p:cNvSpPr/>
          <p:nvPr/>
        </p:nvSpPr>
        <p:spPr>
          <a:xfrm>
            <a:off x="1417320" y="2121408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F2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North America</a:t>
            </a:r>
            <a:endParaRPr lang="en-US" sz="1100" dirty="0"/>
          </a:p>
        </p:txBody>
      </p:sp>
      <p:sp>
        <p:nvSpPr>
          <p:cNvPr id="8" name="Text 4"/>
          <p:cNvSpPr/>
          <p:nvPr/>
        </p:nvSpPr>
        <p:spPr>
          <a:xfrm>
            <a:off x="4572000" y="1417320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i="1" dirty="0">
                <a:solidFill>
                  <a:srgbClr val="E8B8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≈ 3,000 miles of ocean</a:t>
            </a:r>
            <a:endParaRPr lang="en-US" sz="1200" dirty="0"/>
          </a:p>
        </p:txBody>
      </p:sp>
      <p:sp>
        <p:nvSpPr>
          <p:cNvPr id="9" name="Shape 5"/>
          <p:cNvSpPr/>
          <p:nvPr/>
        </p:nvSpPr>
        <p:spPr>
          <a:xfrm>
            <a:off x="640080" y="2834640"/>
            <a:ext cx="5394960" cy="3200400"/>
          </a:xfrm>
          <a:prstGeom prst="roundRect">
            <a:avLst>
              <a:gd name="adj" fmla="val 2571"/>
            </a:avLst>
          </a:prstGeom>
          <a:solidFill>
            <a:srgbClr val="FFFFFF"/>
          </a:solidFill>
          <a:ln/>
          <a:effectLst>
            <a:outerShdw blurRad="114300" dist="38100" dir="5400000" algn="bl" rotWithShape="0">
              <a:srgbClr val="000000">
                <a:alpha val="16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0" name="Shape 6"/>
          <p:cNvSpPr/>
          <p:nvPr/>
        </p:nvSpPr>
        <p:spPr>
          <a:xfrm>
            <a:off x="896112" y="3063240"/>
            <a:ext cx="731520" cy="731520"/>
          </a:xfrm>
          <a:prstGeom prst="ellipse">
            <a:avLst/>
          </a:prstGeom>
          <a:solidFill>
            <a:srgbClr val="1F2A5A"/>
          </a:solidFill>
          <a:ln/>
          <a:effectLst>
            <a:outerShdw blurRad="114300" dist="38100" dir="5400000" algn="bl" rotWithShape="0">
              <a:srgbClr val="000000">
                <a:alpha val="16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pic>
        <p:nvPicPr>
          <p:cNvPr id="11" name="Image 2" descr="/home/claude/assets/ic_ship_w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86307" y="3253435"/>
            <a:ext cx="351130" cy="351130"/>
          </a:xfrm>
          <a:prstGeom prst="rect">
            <a:avLst/>
          </a:prstGeom>
        </p:spPr>
      </p:pic>
      <p:sp>
        <p:nvSpPr>
          <p:cNvPr id="12" name="Text 7"/>
          <p:cNvSpPr/>
          <p:nvPr/>
        </p:nvSpPr>
        <p:spPr>
          <a:xfrm>
            <a:off x="1783080" y="3108960"/>
            <a:ext cx="4114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F2A5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Colonial Implantation</a:t>
            </a:r>
            <a:endParaRPr lang="en-US" sz="1800" dirty="0"/>
          </a:p>
        </p:txBody>
      </p:sp>
      <p:sp>
        <p:nvSpPr>
          <p:cNvPr id="13" name="Text 8"/>
          <p:cNvSpPr/>
          <p:nvPr/>
        </p:nvSpPr>
        <p:spPr>
          <a:xfrm>
            <a:off x="914400" y="3931920"/>
            <a:ext cx="48463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5A61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1607 (Jamestown) and 1620 (Plymouth), British settlers transplanted their language to North America — the Early Modern English of the Shakespearean era.</a:t>
            </a:r>
            <a:endParaRPr lang="en-US" sz="1250" dirty="0"/>
          </a:p>
        </p:txBody>
      </p:sp>
      <p:sp>
        <p:nvSpPr>
          <p:cNvPr id="14" name="Shape 9"/>
          <p:cNvSpPr/>
          <p:nvPr/>
        </p:nvSpPr>
        <p:spPr>
          <a:xfrm>
            <a:off x="914400" y="4892040"/>
            <a:ext cx="4846320" cy="475488"/>
          </a:xfrm>
          <a:prstGeom prst="roundRect">
            <a:avLst>
              <a:gd name="adj" fmla="val 17308"/>
            </a:avLst>
          </a:prstGeom>
          <a:solidFill>
            <a:srgbClr val="F4F1EA"/>
          </a:solidFill>
          <a:ln/>
          <a:effectLst>
            <a:outerShdw blurRad="114300" dist="38100" dir="5400000" algn="bl" rotWithShape="0">
              <a:srgbClr val="000000">
                <a:alpha val="16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5" name="Text 10"/>
          <p:cNvSpPr/>
          <p:nvPr/>
        </p:nvSpPr>
        <p:spPr>
          <a:xfrm>
            <a:off x="1097280" y="4892040"/>
            <a:ext cx="45720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F2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1607  —  </a:t>
            </a:r>
            <a:r>
              <a:rPr lang="en-US" sz="1200" dirty="0">
                <a:solidFill>
                  <a:srgbClr val="1E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Jamestown, Virginia</a:t>
            </a:r>
            <a:endParaRPr lang="en-US" sz="1200" dirty="0"/>
          </a:p>
        </p:txBody>
      </p:sp>
      <p:sp>
        <p:nvSpPr>
          <p:cNvPr id="16" name="Shape 11"/>
          <p:cNvSpPr/>
          <p:nvPr/>
        </p:nvSpPr>
        <p:spPr>
          <a:xfrm>
            <a:off x="914400" y="5458968"/>
            <a:ext cx="4846320" cy="475488"/>
          </a:xfrm>
          <a:prstGeom prst="roundRect">
            <a:avLst>
              <a:gd name="adj" fmla="val 17308"/>
            </a:avLst>
          </a:prstGeom>
          <a:solidFill>
            <a:srgbClr val="F4F1EA"/>
          </a:solidFill>
          <a:ln/>
          <a:effectLst>
            <a:outerShdw blurRad="114300" dist="38100" dir="5400000" algn="bl" rotWithShape="0">
              <a:srgbClr val="000000">
                <a:alpha val="16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7" name="Text 12"/>
          <p:cNvSpPr/>
          <p:nvPr/>
        </p:nvSpPr>
        <p:spPr>
          <a:xfrm>
            <a:off x="1097280" y="5458968"/>
            <a:ext cx="45720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F2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1620  —  </a:t>
            </a:r>
            <a:r>
              <a:rPr lang="en-US" sz="1200" dirty="0">
                <a:solidFill>
                  <a:srgbClr val="1E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Plymouth, Massachusetts</a:t>
            </a:r>
            <a:endParaRPr lang="en-US" sz="1200" dirty="0"/>
          </a:p>
        </p:txBody>
      </p:sp>
      <p:sp>
        <p:nvSpPr>
          <p:cNvPr id="18" name="Shape 13"/>
          <p:cNvSpPr/>
          <p:nvPr/>
        </p:nvSpPr>
        <p:spPr>
          <a:xfrm>
            <a:off x="6309360" y="2834640"/>
            <a:ext cx="5394960" cy="3200400"/>
          </a:xfrm>
          <a:prstGeom prst="roundRect">
            <a:avLst>
              <a:gd name="adj" fmla="val 2571"/>
            </a:avLst>
          </a:prstGeom>
          <a:solidFill>
            <a:srgbClr val="FFFFFF"/>
          </a:solidFill>
          <a:ln/>
          <a:effectLst>
            <a:outerShdw blurRad="114300" dist="38100" dir="5400000" algn="bl" rotWithShape="0">
              <a:srgbClr val="000000">
                <a:alpha val="16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9" name="Shape 14"/>
          <p:cNvSpPr/>
          <p:nvPr/>
        </p:nvSpPr>
        <p:spPr>
          <a:xfrm>
            <a:off x="6565392" y="3063240"/>
            <a:ext cx="731520" cy="731520"/>
          </a:xfrm>
          <a:prstGeom prst="ellipse">
            <a:avLst/>
          </a:prstGeom>
          <a:solidFill>
            <a:srgbClr val="B31942"/>
          </a:solidFill>
          <a:ln/>
          <a:effectLst>
            <a:outerShdw blurRad="114300" dist="38100" dir="5400000" algn="bl" rotWithShape="0">
              <a:srgbClr val="000000">
                <a:alpha val="16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pic>
        <p:nvPicPr>
          <p:cNvPr id="20" name="Image 3" descr="/home/claude/assets/ic_feather_w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755587" y="3253435"/>
            <a:ext cx="351130" cy="351130"/>
          </a:xfrm>
          <a:prstGeom prst="rect">
            <a:avLst/>
          </a:prstGeom>
        </p:spPr>
      </p:pic>
      <p:sp>
        <p:nvSpPr>
          <p:cNvPr id="21" name="Text 15"/>
          <p:cNvSpPr/>
          <p:nvPr/>
        </p:nvSpPr>
        <p:spPr>
          <a:xfrm>
            <a:off x="7452360" y="3108960"/>
            <a:ext cx="4114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F2A5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Linguistic Preservation</a:t>
            </a:r>
            <a:endParaRPr lang="en-US" sz="1800" dirty="0"/>
          </a:p>
        </p:txBody>
      </p:sp>
      <p:sp>
        <p:nvSpPr>
          <p:cNvPr id="22" name="Text 16"/>
          <p:cNvSpPr/>
          <p:nvPr/>
        </p:nvSpPr>
        <p:spPr>
          <a:xfrm>
            <a:off x="6583680" y="3931920"/>
            <a:ext cx="48463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5A61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While British English kept changing at home, the settlers preserved older, Elizabethan features that Britain later dropped.</a:t>
            </a:r>
            <a:endParaRPr lang="en-US" sz="1250" dirty="0"/>
          </a:p>
        </p:txBody>
      </p:sp>
      <p:sp>
        <p:nvSpPr>
          <p:cNvPr id="23" name="Shape 17"/>
          <p:cNvSpPr/>
          <p:nvPr/>
        </p:nvSpPr>
        <p:spPr>
          <a:xfrm>
            <a:off x="6583680" y="4892040"/>
            <a:ext cx="4846320" cy="475488"/>
          </a:xfrm>
          <a:prstGeom prst="roundRect">
            <a:avLst>
              <a:gd name="adj" fmla="val 17308"/>
            </a:avLst>
          </a:prstGeom>
          <a:solidFill>
            <a:srgbClr val="F4F1EA"/>
          </a:solidFill>
          <a:ln/>
          <a:effectLst>
            <a:outerShdw blurRad="114300" dist="38100" dir="5400000" algn="bl" rotWithShape="0">
              <a:srgbClr val="000000">
                <a:alpha val="16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4" name="Text 18"/>
          <p:cNvSpPr/>
          <p:nvPr/>
        </p:nvSpPr>
        <p:spPr>
          <a:xfrm>
            <a:off x="6766560" y="4892040"/>
            <a:ext cx="45720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B319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Rhoticity  —  </a:t>
            </a:r>
            <a:r>
              <a:rPr lang="en-US" sz="1200" dirty="0">
                <a:solidFill>
                  <a:srgbClr val="1E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Pronouncing the /r/ sound clearly</a:t>
            </a:r>
            <a:endParaRPr lang="en-US" sz="1200" dirty="0"/>
          </a:p>
        </p:txBody>
      </p:sp>
      <p:sp>
        <p:nvSpPr>
          <p:cNvPr id="25" name="Shape 19"/>
          <p:cNvSpPr/>
          <p:nvPr/>
        </p:nvSpPr>
        <p:spPr>
          <a:xfrm>
            <a:off x="6583680" y="5458968"/>
            <a:ext cx="4846320" cy="475488"/>
          </a:xfrm>
          <a:prstGeom prst="roundRect">
            <a:avLst>
              <a:gd name="adj" fmla="val 17308"/>
            </a:avLst>
          </a:prstGeom>
          <a:solidFill>
            <a:srgbClr val="F4F1EA"/>
          </a:solidFill>
          <a:ln/>
          <a:effectLst>
            <a:outerShdw blurRad="114300" dist="38100" dir="5400000" algn="bl" rotWithShape="0">
              <a:srgbClr val="000000">
                <a:alpha val="16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6" name="Text 20"/>
          <p:cNvSpPr/>
          <p:nvPr/>
        </p:nvSpPr>
        <p:spPr>
          <a:xfrm>
            <a:off x="6766560" y="5458968"/>
            <a:ext cx="45720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B319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Vocabulary  —  </a:t>
            </a:r>
            <a:r>
              <a:rPr lang="en-US" sz="1200" dirty="0">
                <a:solidFill>
                  <a:srgbClr val="1E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Keeping older words such as “fall” (autumn)</a:t>
            </a:r>
            <a:endParaRPr lang="en-US" sz="1200" dirty="0"/>
          </a:p>
        </p:txBody>
      </p:sp>
      <p:sp>
        <p:nvSpPr>
          <p:cNvPr id="27" name="Text 21"/>
          <p:cNvSpPr/>
          <p:nvPr/>
        </p:nvSpPr>
        <p:spPr>
          <a:xfrm>
            <a:off x="8229600" y="6400800"/>
            <a:ext cx="3657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50" i="1" dirty="0">
                <a:solidFill>
                  <a:srgbClr val="9AA0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Sources: History.com (2025); Library of Congress</a:t>
            </a:r>
            <a:endParaRPr lang="en-US" sz="9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BF7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384048"/>
            <a:ext cx="713232" cy="713232"/>
          </a:xfrm>
          <a:prstGeom prst="ellipse">
            <a:avLst/>
          </a:prstGeom>
          <a:solidFill>
            <a:srgbClr val="E8B84B"/>
          </a:solidFill>
          <a:ln/>
          <a:effectLst>
            <a:outerShdw blurRad="114300" dist="38100" dir="5400000" algn="bl" rotWithShape="0">
              <a:srgbClr val="000000">
                <a:alpha val="16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pic>
        <p:nvPicPr>
          <p:cNvPr id="3" name="Image 0" descr="/home/claude/assets/ic_globe_n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4080" y="569488"/>
            <a:ext cx="342351" cy="342351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417320" y="384048"/>
            <a:ext cx="1014984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1F2A5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Where Does American English Sit?</a:t>
            </a:r>
            <a:endParaRPr lang="en-US" sz="2700" dirty="0"/>
          </a:p>
        </p:txBody>
      </p:sp>
      <p:sp>
        <p:nvSpPr>
          <p:cNvPr id="5" name="Text 2"/>
          <p:cNvSpPr/>
          <p:nvPr/>
        </p:nvSpPr>
        <p:spPr>
          <a:xfrm>
            <a:off x="1417320" y="109728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5A61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Kachru’s Three Concentric Circles (1985)</a:t>
            </a:r>
            <a:endParaRPr lang="en-US" sz="1400" dirty="0"/>
          </a:p>
        </p:txBody>
      </p:sp>
      <p:sp>
        <p:nvSpPr>
          <p:cNvPr id="6" name="Shape 3"/>
          <p:cNvSpPr/>
          <p:nvPr/>
        </p:nvSpPr>
        <p:spPr>
          <a:xfrm>
            <a:off x="914400" y="1645920"/>
            <a:ext cx="4663440" cy="4663440"/>
          </a:xfrm>
          <a:prstGeom prst="ellipse">
            <a:avLst/>
          </a:prstGeom>
          <a:solidFill>
            <a:srgbClr val="F3E7C6"/>
          </a:solidFill>
          <a:ln w="19050">
            <a:solidFill>
              <a:srgbClr val="E8B84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Shape 4"/>
          <p:cNvSpPr/>
          <p:nvPr/>
        </p:nvSpPr>
        <p:spPr>
          <a:xfrm>
            <a:off x="1691640" y="2423160"/>
            <a:ext cx="3108960" cy="3108960"/>
          </a:xfrm>
          <a:prstGeom prst="ellipse">
            <a:avLst/>
          </a:prstGeom>
          <a:solidFill>
            <a:srgbClr val="EBCBB0"/>
          </a:solidFill>
          <a:ln w="19050">
            <a:solidFill>
              <a:srgbClr val="C98A5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Shape 5"/>
          <p:cNvSpPr/>
          <p:nvPr/>
        </p:nvSpPr>
        <p:spPr>
          <a:xfrm>
            <a:off x="2377440" y="3108960"/>
            <a:ext cx="1737360" cy="1737360"/>
          </a:xfrm>
          <a:prstGeom prst="ellipse">
            <a:avLst/>
          </a:prstGeom>
          <a:solidFill>
            <a:srgbClr val="B31942"/>
          </a:solidFill>
          <a:ln w="254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6"/>
          <p:cNvSpPr/>
          <p:nvPr/>
        </p:nvSpPr>
        <p:spPr>
          <a:xfrm>
            <a:off x="2377440" y="3593592"/>
            <a:ext cx="1737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INNER</a:t>
            </a:r>
            <a:endParaRPr lang="en-US" sz="1400" dirty="0"/>
          </a:p>
        </p:txBody>
      </p:sp>
      <p:sp>
        <p:nvSpPr>
          <p:cNvPr id="10" name="Text 7"/>
          <p:cNvSpPr/>
          <p:nvPr/>
        </p:nvSpPr>
        <p:spPr>
          <a:xfrm>
            <a:off x="2377440" y="3959352"/>
            <a:ext cx="1737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FBD9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USA · UK</a:t>
            </a:r>
            <a:endParaRPr lang="en-US" sz="1000" dirty="0"/>
          </a:p>
        </p:txBody>
      </p:sp>
      <p:sp>
        <p:nvSpPr>
          <p:cNvPr id="11" name="Text 8"/>
          <p:cNvSpPr/>
          <p:nvPr/>
        </p:nvSpPr>
        <p:spPr>
          <a:xfrm>
            <a:off x="1143000" y="1828800"/>
            <a:ext cx="4206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8A6D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Expanding Circle</a:t>
            </a:r>
            <a:endParaRPr lang="en-US" sz="1200" dirty="0"/>
          </a:p>
        </p:txBody>
      </p:sp>
      <p:sp>
        <p:nvSpPr>
          <p:cNvPr id="12" name="Text 9"/>
          <p:cNvSpPr/>
          <p:nvPr/>
        </p:nvSpPr>
        <p:spPr>
          <a:xfrm>
            <a:off x="1783080" y="2560320"/>
            <a:ext cx="29260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9A5A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Outer Circle</a:t>
            </a:r>
            <a:endParaRPr lang="en-US" sz="1100" dirty="0"/>
          </a:p>
        </p:txBody>
      </p:sp>
      <p:sp>
        <p:nvSpPr>
          <p:cNvPr id="13" name="Shape 10"/>
          <p:cNvSpPr/>
          <p:nvPr/>
        </p:nvSpPr>
        <p:spPr>
          <a:xfrm>
            <a:off x="6309360" y="1645920"/>
            <a:ext cx="292608" cy="292608"/>
          </a:xfrm>
          <a:prstGeom prst="ellipse">
            <a:avLst/>
          </a:prstGeom>
          <a:solidFill>
            <a:srgbClr val="B3194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4" name="Text 11"/>
          <p:cNvSpPr/>
          <p:nvPr/>
        </p:nvSpPr>
        <p:spPr>
          <a:xfrm>
            <a:off x="6720840" y="1554480"/>
            <a:ext cx="4937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F2A5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Inner Circle</a:t>
            </a:r>
            <a:endParaRPr lang="en-US" sz="1600" dirty="0"/>
          </a:p>
        </p:txBody>
      </p:sp>
      <p:sp>
        <p:nvSpPr>
          <p:cNvPr id="15" name="Text 12"/>
          <p:cNvSpPr/>
          <p:nvPr/>
        </p:nvSpPr>
        <p:spPr>
          <a:xfrm>
            <a:off x="6720840" y="1920240"/>
            <a:ext cx="5029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5A61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English as a native language (L1). Norm-providing.</a:t>
            </a:r>
            <a:endParaRPr lang="en-US" sz="1200" dirty="0"/>
          </a:p>
        </p:txBody>
      </p:sp>
      <p:sp>
        <p:nvSpPr>
          <p:cNvPr id="16" name="Text 13"/>
          <p:cNvSpPr/>
          <p:nvPr/>
        </p:nvSpPr>
        <p:spPr>
          <a:xfrm>
            <a:off x="6720840" y="2221992"/>
            <a:ext cx="5029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i="1" dirty="0">
                <a:solidFill>
                  <a:srgbClr val="A0A0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e.g. </a:t>
            </a:r>
            <a:r>
              <a:rPr lang="en-US" sz="1150" dirty="0">
                <a:solidFill>
                  <a:srgbClr val="1E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USA, UK, Canada, Australia</a:t>
            </a:r>
            <a:endParaRPr lang="en-US" sz="1150" dirty="0"/>
          </a:p>
        </p:txBody>
      </p:sp>
      <p:sp>
        <p:nvSpPr>
          <p:cNvPr id="17" name="Shape 14"/>
          <p:cNvSpPr/>
          <p:nvPr/>
        </p:nvSpPr>
        <p:spPr>
          <a:xfrm>
            <a:off x="6309360" y="2697480"/>
            <a:ext cx="292608" cy="292608"/>
          </a:xfrm>
          <a:prstGeom prst="ellipse">
            <a:avLst/>
          </a:prstGeom>
          <a:solidFill>
            <a:srgbClr val="C98A5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8" name="Text 15"/>
          <p:cNvSpPr/>
          <p:nvPr/>
        </p:nvSpPr>
        <p:spPr>
          <a:xfrm>
            <a:off x="6720840" y="2606040"/>
            <a:ext cx="4937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F2A5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Outer Circle</a:t>
            </a:r>
            <a:endParaRPr lang="en-US" sz="1600" dirty="0"/>
          </a:p>
        </p:txBody>
      </p:sp>
      <p:sp>
        <p:nvSpPr>
          <p:cNvPr id="19" name="Text 16"/>
          <p:cNvSpPr/>
          <p:nvPr/>
        </p:nvSpPr>
        <p:spPr>
          <a:xfrm>
            <a:off x="6720840" y="2971800"/>
            <a:ext cx="5029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5A61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English as a second language, colonial history.</a:t>
            </a:r>
            <a:endParaRPr lang="en-US" sz="1200" dirty="0"/>
          </a:p>
        </p:txBody>
      </p:sp>
      <p:sp>
        <p:nvSpPr>
          <p:cNvPr id="20" name="Text 17"/>
          <p:cNvSpPr/>
          <p:nvPr/>
        </p:nvSpPr>
        <p:spPr>
          <a:xfrm>
            <a:off x="6720840" y="3273552"/>
            <a:ext cx="5029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i="1" dirty="0">
                <a:solidFill>
                  <a:srgbClr val="A0A0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e.g. </a:t>
            </a:r>
            <a:r>
              <a:rPr lang="en-US" sz="1150" dirty="0">
                <a:solidFill>
                  <a:srgbClr val="1E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India, Singapore, Philippines</a:t>
            </a:r>
            <a:endParaRPr lang="en-US" sz="1150" dirty="0"/>
          </a:p>
        </p:txBody>
      </p:sp>
      <p:sp>
        <p:nvSpPr>
          <p:cNvPr id="21" name="Shape 18"/>
          <p:cNvSpPr/>
          <p:nvPr/>
        </p:nvSpPr>
        <p:spPr>
          <a:xfrm>
            <a:off x="6309360" y="3749040"/>
            <a:ext cx="292608" cy="292608"/>
          </a:xfrm>
          <a:prstGeom prst="ellipse">
            <a:avLst/>
          </a:prstGeom>
          <a:solidFill>
            <a:srgbClr val="E8B84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2" name="Text 19"/>
          <p:cNvSpPr/>
          <p:nvPr/>
        </p:nvSpPr>
        <p:spPr>
          <a:xfrm>
            <a:off x="6720840" y="3657600"/>
            <a:ext cx="4937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F2A5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Expanding Circle</a:t>
            </a:r>
            <a:endParaRPr lang="en-US" sz="1600" dirty="0"/>
          </a:p>
        </p:txBody>
      </p:sp>
      <p:sp>
        <p:nvSpPr>
          <p:cNvPr id="23" name="Text 20"/>
          <p:cNvSpPr/>
          <p:nvPr/>
        </p:nvSpPr>
        <p:spPr>
          <a:xfrm>
            <a:off x="6720840" y="4023360"/>
            <a:ext cx="5029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5A61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English as a foreign language.</a:t>
            </a:r>
            <a:endParaRPr lang="en-US" sz="1200" dirty="0"/>
          </a:p>
        </p:txBody>
      </p:sp>
      <p:sp>
        <p:nvSpPr>
          <p:cNvPr id="24" name="Text 21"/>
          <p:cNvSpPr/>
          <p:nvPr/>
        </p:nvSpPr>
        <p:spPr>
          <a:xfrm>
            <a:off x="6720840" y="4325112"/>
            <a:ext cx="5029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i="1" dirty="0">
                <a:solidFill>
                  <a:srgbClr val="A0A0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e.g. </a:t>
            </a:r>
            <a:r>
              <a:rPr lang="en-US" sz="1150" dirty="0">
                <a:solidFill>
                  <a:srgbClr val="1E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Vietnam, China, Japan, Korea</a:t>
            </a:r>
            <a:endParaRPr lang="en-US" sz="1150" dirty="0"/>
          </a:p>
        </p:txBody>
      </p:sp>
      <p:sp>
        <p:nvSpPr>
          <p:cNvPr id="25" name="Shape 22"/>
          <p:cNvSpPr/>
          <p:nvPr/>
        </p:nvSpPr>
        <p:spPr>
          <a:xfrm>
            <a:off x="6309360" y="4892040"/>
            <a:ext cx="5349240" cy="1005840"/>
          </a:xfrm>
          <a:prstGeom prst="roundRect">
            <a:avLst>
              <a:gd name="adj" fmla="val 8182"/>
            </a:avLst>
          </a:prstGeom>
          <a:solidFill>
            <a:srgbClr val="FCEEF1"/>
          </a:solidFill>
          <a:ln/>
          <a:effectLst>
            <a:outerShdw blurRad="101600" dist="38100" dir="16200000" algn="bl" rotWithShape="0">
              <a:srgbClr val="000000">
                <a:alpha val="14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6" name="Text 23"/>
          <p:cNvSpPr/>
          <p:nvPr/>
        </p:nvSpPr>
        <p:spPr>
          <a:xfrm>
            <a:off x="6537960" y="5029200"/>
            <a:ext cx="49377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B319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★  The USA is in the INNER CIRCLE</a:t>
            </a:r>
            <a:r>
              <a:rPr lang="en-US" sz="1350" dirty="0">
                <a:solidFill>
                  <a:srgbClr val="1E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— a native, norm-providing variety, alongside the UK.</a:t>
            </a:r>
            <a:endParaRPr lang="en-US" sz="1350" dirty="0"/>
          </a:p>
        </p:txBody>
      </p:sp>
      <p:sp>
        <p:nvSpPr>
          <p:cNvPr id="27" name="Text 24"/>
          <p:cNvSpPr/>
          <p:nvPr/>
        </p:nvSpPr>
        <p:spPr>
          <a:xfrm>
            <a:off x="8229600" y="6400800"/>
            <a:ext cx="3657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50" i="1" dirty="0">
                <a:solidFill>
                  <a:srgbClr val="9AA0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Source: Kachru (1985); Al-Mutairi (2020)</a:t>
            </a:r>
            <a:endParaRPr lang="en-US" sz="9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1371600"/>
            <a:ext cx="365760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0" b="1" dirty="0">
                <a:solidFill>
                  <a:srgbClr val="2E3E7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02</a:t>
            </a:r>
            <a:endParaRPr lang="en-US" sz="15000" dirty="0"/>
          </a:p>
        </p:txBody>
      </p:sp>
      <p:sp>
        <p:nvSpPr>
          <p:cNvPr id="3" name="Shape 1"/>
          <p:cNvSpPr/>
          <p:nvPr/>
        </p:nvSpPr>
        <p:spPr>
          <a:xfrm>
            <a:off x="9052560" y="2011680"/>
            <a:ext cx="1554480" cy="1554480"/>
          </a:xfrm>
          <a:prstGeom prst="ellipse">
            <a:avLst/>
          </a:prstGeom>
          <a:solidFill>
            <a:srgbClr val="B31942"/>
          </a:solidFill>
          <a:ln/>
          <a:effectLst>
            <a:outerShdw blurRad="114300" dist="38100" dir="5400000" algn="bl" rotWithShape="0">
              <a:srgbClr val="000000">
                <a:alpha val="16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pic>
        <p:nvPicPr>
          <p:cNvPr id="4" name="Image 0" descr="/home/claude/assets/ic_celebrate_w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456725" y="2415845"/>
            <a:ext cx="746150" cy="74615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868680" y="3566160"/>
            <a:ext cx="100584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American English &amp; American Culture</a:t>
            </a:r>
            <a:endParaRPr lang="en-US" sz="3800" dirty="0"/>
          </a:p>
        </p:txBody>
      </p:sp>
      <p:sp>
        <p:nvSpPr>
          <p:cNvPr id="6" name="Text 3"/>
          <p:cNvSpPr/>
          <p:nvPr/>
        </p:nvSpPr>
        <p:spPr>
          <a:xfrm>
            <a:off x="914400" y="4572000"/>
            <a:ext cx="9601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i="1" dirty="0">
                <a:solidFill>
                  <a:srgbClr val="E8B8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American English became distinct — and the culture it grew in</a:t>
            </a:r>
            <a:endParaRPr lang="en-US" sz="1600" dirty="0"/>
          </a:p>
        </p:txBody>
      </p:sp>
      <p:sp>
        <p:nvSpPr>
          <p:cNvPr id="7" name="Text 4"/>
          <p:cNvSpPr/>
          <p:nvPr/>
        </p:nvSpPr>
        <p:spPr>
          <a:xfrm>
            <a:off x="914400" y="5212080"/>
            <a:ext cx="9144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AEB6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Presented by  </a:t>
            </a: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[THANH THUY]</a:t>
            </a:r>
            <a:endParaRPr lang="en-US" sz="15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BF7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384048"/>
            <a:ext cx="713232" cy="713232"/>
          </a:xfrm>
          <a:prstGeom prst="ellipse">
            <a:avLst/>
          </a:prstGeom>
          <a:solidFill>
            <a:srgbClr val="1F2A5A"/>
          </a:solidFill>
          <a:ln/>
          <a:effectLst>
            <a:outerShdw blurRad="114300" dist="38100" dir="5400000" algn="bl" rotWithShape="0">
              <a:srgbClr val="000000">
                <a:alpha val="16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pic>
        <p:nvPicPr>
          <p:cNvPr id="3" name="Image 0" descr="/home/claude/assets/ic_mappin_w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4080" y="569488"/>
            <a:ext cx="342351" cy="342351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417320" y="384048"/>
            <a:ext cx="1014984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1F2A5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Isolation and Adaptation (18th Century)</a:t>
            </a:r>
            <a:endParaRPr lang="en-US" sz="2700" dirty="0"/>
          </a:p>
        </p:txBody>
      </p:sp>
      <p:pic>
        <p:nvPicPr>
          <p:cNvPr id="5" name="Image 1" descr="/home/claude/assets/map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46520" y="1463040"/>
            <a:ext cx="5074920" cy="4041648"/>
          </a:xfrm>
          <a:prstGeom prst="rect">
            <a:avLst/>
          </a:prstGeom>
        </p:spPr>
      </p:pic>
      <p:sp>
        <p:nvSpPr>
          <p:cNvPr id="6" name="Shape 2"/>
          <p:cNvSpPr/>
          <p:nvPr/>
        </p:nvSpPr>
        <p:spPr>
          <a:xfrm>
            <a:off x="6446520" y="1463040"/>
            <a:ext cx="5074920" cy="4041648"/>
          </a:xfrm>
          <a:prstGeom prst="rect">
            <a:avLst/>
          </a:prstGeom>
          <a:ln w="19050">
            <a:solidFill>
              <a:srgbClr val="D9C7A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3"/>
          <p:cNvSpPr/>
          <p:nvPr/>
        </p:nvSpPr>
        <p:spPr>
          <a:xfrm>
            <a:off x="6446520" y="5596128"/>
            <a:ext cx="5074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i="1" dirty="0">
                <a:solidFill>
                  <a:srgbClr val="9AA0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18th-century world map — the Atlantic as a linguistic wall.</a:t>
            </a:r>
            <a:endParaRPr lang="en-US" sz="1100" dirty="0"/>
          </a:p>
        </p:txBody>
      </p:sp>
      <p:sp>
        <p:nvSpPr>
          <p:cNvPr id="8" name="Shape 4"/>
          <p:cNvSpPr/>
          <p:nvPr/>
        </p:nvSpPr>
        <p:spPr>
          <a:xfrm>
            <a:off x="640080" y="1463040"/>
            <a:ext cx="5532120" cy="1371600"/>
          </a:xfrm>
          <a:prstGeom prst="roundRect">
            <a:avLst>
              <a:gd name="adj" fmla="val 6000"/>
            </a:avLst>
          </a:prstGeom>
          <a:solidFill>
            <a:srgbClr val="1F2A5A"/>
          </a:solidFill>
          <a:ln/>
          <a:effectLst>
            <a:outerShdw blurRad="114300" dist="38100" dir="5400000" algn="bl" rotWithShape="0">
              <a:srgbClr val="000000">
                <a:alpha val="16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9" name="Text 5"/>
          <p:cNvSpPr/>
          <p:nvPr/>
        </p:nvSpPr>
        <p:spPr>
          <a:xfrm>
            <a:off x="822960" y="1572768"/>
            <a:ext cx="22860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800" b="1" dirty="0">
                <a:solidFill>
                  <a:srgbClr val="E8B84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3,000</a:t>
            </a:r>
            <a:endParaRPr lang="en-US" sz="4800" dirty="0"/>
          </a:p>
        </p:txBody>
      </p:sp>
      <p:sp>
        <p:nvSpPr>
          <p:cNvPr id="10" name="Text 6"/>
          <p:cNvSpPr/>
          <p:nvPr/>
        </p:nvSpPr>
        <p:spPr>
          <a:xfrm>
            <a:off x="3063240" y="1600200"/>
            <a:ext cx="29260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CAD2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miles of ocean between London and the colonies — no daily contact, no shared updates.</a:t>
            </a:r>
            <a:endParaRPr lang="en-US" sz="1250" dirty="0"/>
          </a:p>
        </p:txBody>
      </p:sp>
      <p:sp>
        <p:nvSpPr>
          <p:cNvPr id="11" name="Shape 7"/>
          <p:cNvSpPr/>
          <p:nvPr/>
        </p:nvSpPr>
        <p:spPr>
          <a:xfrm>
            <a:off x="640080" y="3017520"/>
            <a:ext cx="5532120" cy="1280160"/>
          </a:xfrm>
          <a:prstGeom prst="roundRect">
            <a:avLst>
              <a:gd name="adj" fmla="val 6429"/>
            </a:avLst>
          </a:prstGeom>
          <a:solidFill>
            <a:srgbClr val="FFFFFF"/>
          </a:solidFill>
          <a:ln/>
          <a:effectLst>
            <a:outerShdw blurRad="114300" dist="38100" dir="5400000" algn="bl" rotWithShape="0">
              <a:srgbClr val="000000">
                <a:alpha val="16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2" name="Shape 8"/>
          <p:cNvSpPr/>
          <p:nvPr/>
        </p:nvSpPr>
        <p:spPr>
          <a:xfrm>
            <a:off x="841248" y="3273552"/>
            <a:ext cx="749808" cy="749808"/>
          </a:xfrm>
          <a:prstGeom prst="ellipse">
            <a:avLst/>
          </a:prstGeom>
          <a:solidFill>
            <a:srgbClr val="B31942"/>
          </a:solidFill>
          <a:ln/>
          <a:effectLst>
            <a:outerShdw blurRad="114300" dist="38100" dir="5400000" algn="bl" rotWithShape="0">
              <a:srgbClr val="000000">
                <a:alpha val="16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pic>
        <p:nvPicPr>
          <p:cNvPr id="13" name="Image 2" descr="/home/claude/assets/ic_mappin_w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36198" y="3468502"/>
            <a:ext cx="359908" cy="359908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1828800" y="3154680"/>
            <a:ext cx="4160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1F2A5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Geographic Isolation</a:t>
            </a:r>
            <a:endParaRPr lang="en-US" sz="1700" dirty="0"/>
          </a:p>
        </p:txBody>
      </p:sp>
      <p:sp>
        <p:nvSpPr>
          <p:cNvPr id="15" name="Text 10"/>
          <p:cNvSpPr/>
          <p:nvPr/>
        </p:nvSpPr>
        <p:spPr>
          <a:xfrm>
            <a:off x="1828800" y="3538728"/>
            <a:ext cx="4206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5A61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ocean cut off daily linguistic contact with London. American English was free to develop on its own.</a:t>
            </a:r>
            <a:endParaRPr lang="en-US" sz="1250" dirty="0"/>
          </a:p>
        </p:txBody>
      </p:sp>
      <p:sp>
        <p:nvSpPr>
          <p:cNvPr id="16" name="Shape 11"/>
          <p:cNvSpPr/>
          <p:nvPr/>
        </p:nvSpPr>
        <p:spPr>
          <a:xfrm>
            <a:off x="640080" y="4434840"/>
            <a:ext cx="5532120" cy="1280160"/>
          </a:xfrm>
          <a:prstGeom prst="roundRect">
            <a:avLst>
              <a:gd name="adj" fmla="val 6429"/>
            </a:avLst>
          </a:prstGeom>
          <a:solidFill>
            <a:srgbClr val="FFFFFF"/>
          </a:solidFill>
          <a:ln/>
          <a:effectLst>
            <a:outerShdw blurRad="114300" dist="38100" dir="5400000" algn="bl" rotWithShape="0">
              <a:srgbClr val="000000">
                <a:alpha val="16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7" name="Shape 12"/>
          <p:cNvSpPr/>
          <p:nvPr/>
        </p:nvSpPr>
        <p:spPr>
          <a:xfrm>
            <a:off x="841248" y="4690872"/>
            <a:ext cx="749808" cy="749808"/>
          </a:xfrm>
          <a:prstGeom prst="ellipse">
            <a:avLst/>
          </a:prstGeom>
          <a:solidFill>
            <a:srgbClr val="E8B84B"/>
          </a:solidFill>
          <a:ln/>
          <a:effectLst>
            <a:outerShdw blurRad="114300" dist="38100" dir="5400000" algn="bl" rotWithShape="0">
              <a:srgbClr val="000000">
                <a:alpha val="16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pic>
        <p:nvPicPr>
          <p:cNvPr id="18" name="Image 3" descr="/home/claude/assets/ic_bulb_n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36198" y="4885822"/>
            <a:ext cx="359908" cy="359908"/>
          </a:xfrm>
          <a:prstGeom prst="rect">
            <a:avLst/>
          </a:prstGeom>
        </p:spPr>
      </p:pic>
      <p:sp>
        <p:nvSpPr>
          <p:cNvPr id="19" name="Text 13"/>
          <p:cNvSpPr/>
          <p:nvPr/>
        </p:nvSpPr>
        <p:spPr>
          <a:xfrm>
            <a:off x="1828800" y="4572000"/>
            <a:ext cx="4160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1F2A5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Adapting to the Wilderness</a:t>
            </a:r>
            <a:endParaRPr lang="en-US" sz="1700" dirty="0"/>
          </a:p>
        </p:txBody>
      </p:sp>
      <p:sp>
        <p:nvSpPr>
          <p:cNvPr id="20" name="Text 14"/>
          <p:cNvSpPr/>
          <p:nvPr/>
        </p:nvSpPr>
        <p:spPr>
          <a:xfrm>
            <a:off x="1828800" y="4956048"/>
            <a:ext cx="4206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5A61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Colonists met new landscapes, wildlife and plants that had no English names — so new words were needed.</a:t>
            </a:r>
            <a:endParaRPr lang="en-US" sz="1250" dirty="0"/>
          </a:p>
        </p:txBody>
      </p:sp>
      <p:sp>
        <p:nvSpPr>
          <p:cNvPr id="21" name="Shape 15"/>
          <p:cNvSpPr/>
          <p:nvPr/>
        </p:nvSpPr>
        <p:spPr>
          <a:xfrm>
            <a:off x="640080" y="5852160"/>
            <a:ext cx="5532120" cy="566928"/>
          </a:xfrm>
          <a:prstGeom prst="roundRect">
            <a:avLst>
              <a:gd name="adj" fmla="val 14516"/>
            </a:avLst>
          </a:prstGeom>
          <a:solidFill>
            <a:srgbClr val="FCEEF1"/>
          </a:solidFill>
          <a:ln/>
          <a:effectLst>
            <a:outerShdw blurRad="101600" dist="38100" dir="16200000" algn="bl" rotWithShape="0">
              <a:srgbClr val="000000">
                <a:alpha val="14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2" name="Text 16"/>
          <p:cNvSpPr/>
          <p:nvPr/>
        </p:nvSpPr>
        <p:spPr>
          <a:xfrm>
            <a:off x="822960" y="5852160"/>
            <a:ext cx="52120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B319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New words from the new world:  moose · raccoon · skunk · prairie · canyon</a:t>
            </a:r>
            <a:endParaRPr lang="en-US" sz="1200" dirty="0"/>
          </a:p>
        </p:txBody>
      </p:sp>
      <p:sp>
        <p:nvSpPr>
          <p:cNvPr id="23" name="Text 17"/>
          <p:cNvSpPr/>
          <p:nvPr/>
        </p:nvSpPr>
        <p:spPr>
          <a:xfrm>
            <a:off x="8229600" y="6400800"/>
            <a:ext cx="3657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50" i="1" dirty="0">
                <a:solidFill>
                  <a:srgbClr val="9AA0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2 • [Member 2]</a:t>
            </a:r>
            <a:endParaRPr lang="en-US" sz="9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BF7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384048"/>
            <a:ext cx="713232" cy="713232"/>
          </a:xfrm>
          <a:prstGeom prst="ellipse">
            <a:avLst/>
          </a:prstGeom>
          <a:solidFill>
            <a:srgbClr val="B31942"/>
          </a:solidFill>
          <a:ln/>
          <a:effectLst>
            <a:outerShdw blurRad="114300" dist="38100" dir="5400000" algn="bl" rotWithShape="0">
              <a:srgbClr val="000000">
                <a:alpha val="16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pic>
        <p:nvPicPr>
          <p:cNvPr id="3" name="Image 0" descr="/home/claude/assets/ic_book_w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4080" y="569488"/>
            <a:ext cx="342351" cy="342351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417320" y="384048"/>
            <a:ext cx="1014984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1F2A5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Linguistic Independence (1828)</a:t>
            </a:r>
            <a:endParaRPr lang="en-US" sz="2700" dirty="0"/>
          </a:p>
        </p:txBody>
      </p:sp>
      <p:pic>
        <p:nvPicPr>
          <p:cNvPr id="5" name="Image 1" descr="/home/claude/assets/webster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85800" y="1600200"/>
            <a:ext cx="3703320" cy="3703320"/>
          </a:xfrm>
          <a:prstGeom prst="ellipse">
            <a:avLst/>
          </a:prstGeom>
        </p:spPr>
      </p:pic>
      <p:sp>
        <p:nvSpPr>
          <p:cNvPr id="6" name="Text 2"/>
          <p:cNvSpPr/>
          <p:nvPr/>
        </p:nvSpPr>
        <p:spPr>
          <a:xfrm>
            <a:off x="640080" y="5486400"/>
            <a:ext cx="37947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i="1" dirty="0">
                <a:solidFill>
                  <a:srgbClr val="9AA0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Noah Webster — An American Dictionary of the English Language (1828)</a:t>
            </a:r>
            <a:endParaRPr lang="en-US" sz="1100" dirty="0"/>
          </a:p>
        </p:txBody>
      </p:sp>
      <p:sp>
        <p:nvSpPr>
          <p:cNvPr id="7" name="Shape 3"/>
          <p:cNvSpPr/>
          <p:nvPr/>
        </p:nvSpPr>
        <p:spPr>
          <a:xfrm>
            <a:off x="4800600" y="1463040"/>
            <a:ext cx="6720840" cy="1965960"/>
          </a:xfrm>
          <a:prstGeom prst="roundRect">
            <a:avLst>
              <a:gd name="adj" fmla="val 4186"/>
            </a:avLst>
          </a:prstGeom>
          <a:solidFill>
            <a:srgbClr val="FFFFFF"/>
          </a:solidFill>
          <a:ln/>
          <a:effectLst>
            <a:outerShdw blurRad="114300" dist="38100" dir="5400000" algn="bl" rotWithShape="0">
              <a:srgbClr val="000000">
                <a:alpha val="16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8" name="Shape 4"/>
          <p:cNvSpPr/>
          <p:nvPr/>
        </p:nvSpPr>
        <p:spPr>
          <a:xfrm>
            <a:off x="5029200" y="1645920"/>
            <a:ext cx="2148840" cy="384048"/>
          </a:xfrm>
          <a:prstGeom prst="roundRect">
            <a:avLst>
              <a:gd name="adj" fmla="val 47619"/>
            </a:avLst>
          </a:prstGeom>
          <a:solidFill>
            <a:srgbClr val="FBEBC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" name="Text 5"/>
          <p:cNvSpPr/>
          <p:nvPr/>
        </p:nvSpPr>
        <p:spPr>
          <a:xfrm>
            <a:off x="5029200" y="1645920"/>
            <a:ext cx="21488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8A6D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Noah Webster (1828)</a:t>
            </a:r>
            <a:endParaRPr lang="en-US" sz="1150" dirty="0"/>
          </a:p>
        </p:txBody>
      </p:sp>
      <p:sp>
        <p:nvSpPr>
          <p:cNvPr id="10" name="Text 6"/>
          <p:cNvSpPr/>
          <p:nvPr/>
        </p:nvSpPr>
        <p:spPr>
          <a:xfrm>
            <a:off x="5029200" y="2121408"/>
            <a:ext cx="6217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F2A5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Noah Webster’s Revolution</a:t>
            </a:r>
            <a:endParaRPr lang="en-US" sz="2000" dirty="0"/>
          </a:p>
        </p:txBody>
      </p:sp>
      <p:sp>
        <p:nvSpPr>
          <p:cNvPr id="11" name="Text 7"/>
          <p:cNvSpPr/>
          <p:nvPr/>
        </p:nvSpPr>
        <p:spPr>
          <a:xfrm>
            <a:off x="5029200" y="2560320"/>
            <a:ext cx="6263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5A61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After the American Revolution of 1776, the new nation wanted intellectual independence too. Webster simplified spelling deliberately — turning the dictionary into a symbol of cultural independence from Britain.</a:t>
            </a:r>
            <a:endParaRPr lang="en-US" sz="1300" dirty="0"/>
          </a:p>
        </p:txBody>
      </p:sp>
      <p:sp>
        <p:nvSpPr>
          <p:cNvPr id="12" name="Text 8"/>
          <p:cNvSpPr/>
          <p:nvPr/>
        </p:nvSpPr>
        <p:spPr>
          <a:xfrm>
            <a:off x="4800600" y="361188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B3194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Spelling transformed</a:t>
            </a:r>
            <a:endParaRPr lang="en-US" sz="1600" dirty="0"/>
          </a:p>
        </p:txBody>
      </p:sp>
      <p:sp>
        <p:nvSpPr>
          <p:cNvPr id="13" name="Shape 9"/>
          <p:cNvSpPr/>
          <p:nvPr/>
        </p:nvSpPr>
        <p:spPr>
          <a:xfrm>
            <a:off x="4800600" y="4069080"/>
            <a:ext cx="3291840" cy="713232"/>
          </a:xfrm>
          <a:prstGeom prst="roundRect">
            <a:avLst>
              <a:gd name="adj" fmla="val 11538"/>
            </a:avLst>
          </a:prstGeom>
          <a:solidFill>
            <a:srgbClr val="FFFFFF"/>
          </a:solidFill>
          <a:ln/>
          <a:effectLst>
            <a:outerShdw blurRad="114300" dist="38100" dir="5400000" algn="bl" rotWithShape="0">
              <a:srgbClr val="000000">
                <a:alpha val="16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4" name="Text 10"/>
          <p:cNvSpPr/>
          <p:nvPr/>
        </p:nvSpPr>
        <p:spPr>
          <a:xfrm>
            <a:off x="4983480" y="4069080"/>
            <a:ext cx="146304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5A61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colour (UK)</a:t>
            </a:r>
            <a:endParaRPr lang="en-US" sz="1250" dirty="0"/>
          </a:p>
        </p:txBody>
      </p:sp>
      <p:sp>
        <p:nvSpPr>
          <p:cNvPr id="15" name="Text 11"/>
          <p:cNvSpPr/>
          <p:nvPr/>
        </p:nvSpPr>
        <p:spPr>
          <a:xfrm>
            <a:off x="6492240" y="4069080"/>
            <a:ext cx="150876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B319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color (US)</a:t>
            </a:r>
            <a:endParaRPr lang="en-US" sz="1250" dirty="0"/>
          </a:p>
        </p:txBody>
      </p:sp>
      <p:sp>
        <p:nvSpPr>
          <p:cNvPr id="16" name="Shape 12"/>
          <p:cNvSpPr/>
          <p:nvPr/>
        </p:nvSpPr>
        <p:spPr>
          <a:xfrm>
            <a:off x="8229600" y="4069080"/>
            <a:ext cx="3291840" cy="713232"/>
          </a:xfrm>
          <a:prstGeom prst="roundRect">
            <a:avLst>
              <a:gd name="adj" fmla="val 11538"/>
            </a:avLst>
          </a:prstGeom>
          <a:solidFill>
            <a:srgbClr val="FFFFFF"/>
          </a:solidFill>
          <a:ln/>
          <a:effectLst>
            <a:outerShdw blurRad="114300" dist="38100" dir="5400000" algn="bl" rotWithShape="0">
              <a:srgbClr val="000000">
                <a:alpha val="16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7" name="Text 13"/>
          <p:cNvSpPr/>
          <p:nvPr/>
        </p:nvSpPr>
        <p:spPr>
          <a:xfrm>
            <a:off x="8412480" y="4069080"/>
            <a:ext cx="146304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5A61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theatre (UK)</a:t>
            </a:r>
            <a:endParaRPr lang="en-US" sz="1250" dirty="0"/>
          </a:p>
        </p:txBody>
      </p:sp>
      <p:sp>
        <p:nvSpPr>
          <p:cNvPr id="18" name="Text 14"/>
          <p:cNvSpPr/>
          <p:nvPr/>
        </p:nvSpPr>
        <p:spPr>
          <a:xfrm>
            <a:off x="9921240" y="4069080"/>
            <a:ext cx="150876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B319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theater (US)</a:t>
            </a:r>
            <a:endParaRPr lang="en-US" sz="1250" dirty="0"/>
          </a:p>
        </p:txBody>
      </p:sp>
      <p:sp>
        <p:nvSpPr>
          <p:cNvPr id="19" name="Shape 15"/>
          <p:cNvSpPr/>
          <p:nvPr/>
        </p:nvSpPr>
        <p:spPr>
          <a:xfrm>
            <a:off x="4800600" y="4937760"/>
            <a:ext cx="3291840" cy="713232"/>
          </a:xfrm>
          <a:prstGeom prst="roundRect">
            <a:avLst>
              <a:gd name="adj" fmla="val 11538"/>
            </a:avLst>
          </a:prstGeom>
          <a:solidFill>
            <a:srgbClr val="FFFFFF"/>
          </a:solidFill>
          <a:ln/>
          <a:effectLst>
            <a:outerShdw blurRad="114300" dist="38100" dir="5400000" algn="bl" rotWithShape="0">
              <a:srgbClr val="000000">
                <a:alpha val="16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0" name="Text 16"/>
          <p:cNvSpPr/>
          <p:nvPr/>
        </p:nvSpPr>
        <p:spPr>
          <a:xfrm>
            <a:off x="4983480" y="4937760"/>
            <a:ext cx="146304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5A61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travelling (UK)</a:t>
            </a:r>
            <a:endParaRPr lang="en-US" sz="1250" dirty="0"/>
          </a:p>
        </p:txBody>
      </p:sp>
      <p:sp>
        <p:nvSpPr>
          <p:cNvPr id="21" name="Text 17"/>
          <p:cNvSpPr/>
          <p:nvPr/>
        </p:nvSpPr>
        <p:spPr>
          <a:xfrm>
            <a:off x="6492240" y="4937760"/>
            <a:ext cx="150876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B319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traveling (US)</a:t>
            </a:r>
            <a:endParaRPr lang="en-US" sz="1250" dirty="0"/>
          </a:p>
        </p:txBody>
      </p:sp>
      <p:sp>
        <p:nvSpPr>
          <p:cNvPr id="22" name="Shape 18"/>
          <p:cNvSpPr/>
          <p:nvPr/>
        </p:nvSpPr>
        <p:spPr>
          <a:xfrm>
            <a:off x="8229600" y="4937760"/>
            <a:ext cx="3291840" cy="713232"/>
          </a:xfrm>
          <a:prstGeom prst="roundRect">
            <a:avLst>
              <a:gd name="adj" fmla="val 11538"/>
            </a:avLst>
          </a:prstGeom>
          <a:solidFill>
            <a:srgbClr val="FFFFFF"/>
          </a:solidFill>
          <a:ln/>
          <a:effectLst>
            <a:outerShdw blurRad="114300" dist="38100" dir="5400000" algn="bl" rotWithShape="0">
              <a:srgbClr val="000000">
                <a:alpha val="16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3" name="Text 19"/>
          <p:cNvSpPr/>
          <p:nvPr/>
        </p:nvSpPr>
        <p:spPr>
          <a:xfrm>
            <a:off x="8412480" y="4937760"/>
            <a:ext cx="146304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5A61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defence (UK)</a:t>
            </a:r>
            <a:endParaRPr lang="en-US" sz="1250" dirty="0"/>
          </a:p>
        </p:txBody>
      </p:sp>
      <p:sp>
        <p:nvSpPr>
          <p:cNvPr id="24" name="Text 20"/>
          <p:cNvSpPr/>
          <p:nvPr/>
        </p:nvSpPr>
        <p:spPr>
          <a:xfrm>
            <a:off x="9921240" y="4937760"/>
            <a:ext cx="150876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B319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defense (US)</a:t>
            </a:r>
            <a:endParaRPr lang="en-US" sz="1250" dirty="0"/>
          </a:p>
        </p:txBody>
      </p:sp>
      <p:sp>
        <p:nvSpPr>
          <p:cNvPr id="25" name="Shape 21"/>
          <p:cNvSpPr/>
          <p:nvPr/>
        </p:nvSpPr>
        <p:spPr>
          <a:xfrm>
            <a:off x="4800600" y="5806440"/>
            <a:ext cx="6720840" cy="566928"/>
          </a:xfrm>
          <a:prstGeom prst="roundRect">
            <a:avLst>
              <a:gd name="adj" fmla="val 14516"/>
            </a:avLst>
          </a:prstGeom>
          <a:solidFill>
            <a:srgbClr val="EEF1F8"/>
          </a:solidFill>
          <a:ln/>
          <a:effectLst>
            <a:outerShdw blurRad="101600" dist="38100" dir="16200000" algn="bl" rotWithShape="0">
              <a:srgbClr val="000000">
                <a:alpha val="14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6" name="Text 22"/>
          <p:cNvSpPr/>
          <p:nvPr/>
        </p:nvSpPr>
        <p:spPr>
          <a:xfrm>
            <a:off x="4983480" y="5806440"/>
            <a:ext cx="64008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i="1" dirty="0">
                <a:solidFill>
                  <a:srgbClr val="1F2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Political independence in 1776  →  linguistic independence in 1828.</a:t>
            </a:r>
            <a:endParaRPr lang="en-US" sz="1250" dirty="0"/>
          </a:p>
        </p:txBody>
      </p:sp>
      <p:sp>
        <p:nvSpPr>
          <p:cNvPr id="27" name="Text 23"/>
          <p:cNvSpPr/>
          <p:nvPr/>
        </p:nvSpPr>
        <p:spPr>
          <a:xfrm>
            <a:off x="8229600" y="6400800"/>
            <a:ext cx="3657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50" i="1" dirty="0">
                <a:solidFill>
                  <a:srgbClr val="9AA0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Source: Webster (1828); Wikipedia (2026)</a:t>
            </a:r>
            <a:endParaRPr lang="en-US" sz="9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BF7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384048"/>
            <a:ext cx="713232" cy="713232"/>
          </a:xfrm>
          <a:prstGeom prst="ellipse">
            <a:avLst/>
          </a:prstGeom>
          <a:solidFill>
            <a:srgbClr val="B31942"/>
          </a:solidFill>
          <a:ln/>
          <a:effectLst>
            <a:outerShdw blurRad="114300" dist="38100" dir="5400000" algn="bl" rotWithShape="0">
              <a:srgbClr val="000000">
                <a:alpha val="16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pic>
        <p:nvPicPr>
          <p:cNvPr id="3" name="Image 0" descr="/home/claude/assets/ic_celebrate_w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4080" y="569488"/>
            <a:ext cx="342351" cy="342351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417320" y="384048"/>
            <a:ext cx="1014984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1F2A5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American Culture: A Melting Pot</a:t>
            </a:r>
            <a:endParaRPr lang="en-US" sz="2700" dirty="0"/>
          </a:p>
        </p:txBody>
      </p:sp>
      <p:sp>
        <p:nvSpPr>
          <p:cNvPr id="5" name="Shape 2"/>
          <p:cNvSpPr/>
          <p:nvPr/>
        </p:nvSpPr>
        <p:spPr>
          <a:xfrm>
            <a:off x="640080" y="1417320"/>
            <a:ext cx="5486400" cy="1325880"/>
          </a:xfrm>
          <a:prstGeom prst="roundRect">
            <a:avLst>
              <a:gd name="adj" fmla="val 6207"/>
            </a:avLst>
          </a:prstGeom>
          <a:solidFill>
            <a:srgbClr val="FFFFFF"/>
          </a:solidFill>
          <a:ln/>
          <a:effectLst>
            <a:outerShdw blurRad="114300" dist="38100" dir="5400000" algn="bl" rotWithShape="0">
              <a:srgbClr val="000000">
                <a:alpha val="16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6" name="Shape 3"/>
          <p:cNvSpPr/>
          <p:nvPr/>
        </p:nvSpPr>
        <p:spPr>
          <a:xfrm>
            <a:off x="841248" y="1691640"/>
            <a:ext cx="777240" cy="777240"/>
          </a:xfrm>
          <a:prstGeom prst="ellipse">
            <a:avLst/>
          </a:prstGeom>
          <a:solidFill>
            <a:srgbClr val="B31942"/>
          </a:solidFill>
          <a:ln/>
          <a:effectLst>
            <a:outerShdw blurRad="114300" dist="38100" dir="5400000" algn="bl" rotWithShape="0">
              <a:srgbClr val="000000">
                <a:alpha val="16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pic>
        <p:nvPicPr>
          <p:cNvPr id="7" name="Image 1" descr="/home/claude/assets/ic_utensils_w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43330" y="1893722"/>
            <a:ext cx="373075" cy="373075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1828800" y="1581912"/>
            <a:ext cx="4114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F2A5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Cuisine</a:t>
            </a:r>
            <a:endParaRPr lang="en-US" sz="1800" dirty="0"/>
          </a:p>
        </p:txBody>
      </p:sp>
      <p:sp>
        <p:nvSpPr>
          <p:cNvPr id="9" name="Text 5"/>
          <p:cNvSpPr/>
          <p:nvPr/>
        </p:nvSpPr>
        <p:spPr>
          <a:xfrm>
            <a:off x="1828800" y="1965960"/>
            <a:ext cx="41605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5A61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Burgers and hot dogs alongside Italian, Mexican, Chinese and regional cooking (BBQ, Tex-Mex, Cajun).</a:t>
            </a:r>
            <a:endParaRPr lang="en-US" sz="1250" dirty="0"/>
          </a:p>
        </p:txBody>
      </p:sp>
      <p:sp>
        <p:nvSpPr>
          <p:cNvPr id="10" name="Shape 6"/>
          <p:cNvSpPr/>
          <p:nvPr/>
        </p:nvSpPr>
        <p:spPr>
          <a:xfrm>
            <a:off x="640080" y="2898648"/>
            <a:ext cx="5486400" cy="1325880"/>
          </a:xfrm>
          <a:prstGeom prst="roundRect">
            <a:avLst>
              <a:gd name="adj" fmla="val 6207"/>
            </a:avLst>
          </a:prstGeom>
          <a:solidFill>
            <a:srgbClr val="FFFFFF"/>
          </a:solidFill>
          <a:ln/>
          <a:effectLst>
            <a:outerShdw blurRad="114300" dist="38100" dir="5400000" algn="bl" rotWithShape="0">
              <a:srgbClr val="000000">
                <a:alpha val="16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1" name="Shape 7"/>
          <p:cNvSpPr/>
          <p:nvPr/>
        </p:nvSpPr>
        <p:spPr>
          <a:xfrm>
            <a:off x="841248" y="3172968"/>
            <a:ext cx="777240" cy="777240"/>
          </a:xfrm>
          <a:prstGeom prst="ellipse">
            <a:avLst/>
          </a:prstGeom>
          <a:solidFill>
            <a:srgbClr val="1F2A5A"/>
          </a:solidFill>
          <a:ln/>
          <a:effectLst>
            <a:outerShdw blurRad="114300" dist="38100" dir="5400000" algn="bl" rotWithShape="0">
              <a:srgbClr val="000000">
                <a:alpha val="16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pic>
        <p:nvPicPr>
          <p:cNvPr id="12" name="Image 2" descr="/home/claude/assets/ic_church_w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43330" y="3375050"/>
            <a:ext cx="373075" cy="373075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1828800" y="3063240"/>
            <a:ext cx="4114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F2A5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Religion</a:t>
            </a:r>
            <a:endParaRPr lang="en-US" sz="1800" dirty="0"/>
          </a:p>
        </p:txBody>
      </p:sp>
      <p:sp>
        <p:nvSpPr>
          <p:cNvPr id="14" name="Text 9"/>
          <p:cNvSpPr/>
          <p:nvPr/>
        </p:nvSpPr>
        <p:spPr>
          <a:xfrm>
            <a:off x="1828800" y="3447288"/>
            <a:ext cx="41605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5A61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of the most religiously diverse nations; freedom of religion is protected by the First Amendment.</a:t>
            </a:r>
            <a:endParaRPr lang="en-US" sz="1250" dirty="0"/>
          </a:p>
        </p:txBody>
      </p:sp>
      <p:sp>
        <p:nvSpPr>
          <p:cNvPr id="15" name="Shape 10"/>
          <p:cNvSpPr/>
          <p:nvPr/>
        </p:nvSpPr>
        <p:spPr>
          <a:xfrm>
            <a:off x="640080" y="4379976"/>
            <a:ext cx="5486400" cy="1325880"/>
          </a:xfrm>
          <a:prstGeom prst="roundRect">
            <a:avLst>
              <a:gd name="adj" fmla="val 6207"/>
            </a:avLst>
          </a:prstGeom>
          <a:solidFill>
            <a:srgbClr val="FFFFFF"/>
          </a:solidFill>
          <a:ln/>
          <a:effectLst>
            <a:outerShdw blurRad="114300" dist="38100" dir="5400000" algn="bl" rotWithShape="0">
              <a:srgbClr val="000000">
                <a:alpha val="16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6" name="Shape 11"/>
          <p:cNvSpPr/>
          <p:nvPr/>
        </p:nvSpPr>
        <p:spPr>
          <a:xfrm>
            <a:off x="841248" y="4654296"/>
            <a:ext cx="777240" cy="777240"/>
          </a:xfrm>
          <a:prstGeom prst="ellipse">
            <a:avLst/>
          </a:prstGeom>
          <a:solidFill>
            <a:srgbClr val="E8B84B"/>
          </a:solidFill>
          <a:ln/>
          <a:effectLst>
            <a:outerShdw blurRad="114300" dist="38100" dir="5400000" algn="bl" rotWithShape="0">
              <a:srgbClr val="000000">
                <a:alpha val="16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pic>
        <p:nvPicPr>
          <p:cNvPr id="17" name="Image 3" descr="/home/claude/assets/ic_celebrate_n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43330" y="4856378"/>
            <a:ext cx="373075" cy="373075"/>
          </a:xfrm>
          <a:prstGeom prst="rect">
            <a:avLst/>
          </a:prstGeom>
        </p:spPr>
      </p:pic>
      <p:sp>
        <p:nvSpPr>
          <p:cNvPr id="18" name="Text 12"/>
          <p:cNvSpPr/>
          <p:nvPr/>
        </p:nvSpPr>
        <p:spPr>
          <a:xfrm>
            <a:off x="1828800" y="4544568"/>
            <a:ext cx="4114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F2A5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Festivals</a:t>
            </a:r>
            <a:endParaRPr lang="en-US" sz="1800" dirty="0"/>
          </a:p>
        </p:txBody>
      </p:sp>
      <p:sp>
        <p:nvSpPr>
          <p:cNvPr id="19" name="Text 13"/>
          <p:cNvSpPr/>
          <p:nvPr/>
        </p:nvSpPr>
        <p:spPr>
          <a:xfrm>
            <a:off x="1828800" y="4928616"/>
            <a:ext cx="41605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5A61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Religious, harvest and patriotic holidays — led by two uniquely American ones.</a:t>
            </a:r>
            <a:endParaRPr lang="en-US" sz="1250" dirty="0"/>
          </a:p>
        </p:txBody>
      </p:sp>
      <p:sp>
        <p:nvSpPr>
          <p:cNvPr id="20" name="Shape 14"/>
          <p:cNvSpPr/>
          <p:nvPr/>
        </p:nvSpPr>
        <p:spPr>
          <a:xfrm>
            <a:off x="6446520" y="1417320"/>
            <a:ext cx="5074920" cy="4617720"/>
          </a:xfrm>
          <a:prstGeom prst="roundRect">
            <a:avLst>
              <a:gd name="adj" fmla="val 1782"/>
            </a:avLst>
          </a:prstGeom>
          <a:solidFill>
            <a:srgbClr val="FFFFFF"/>
          </a:solidFill>
          <a:ln/>
          <a:effectLst>
            <a:outerShdw blurRad="114300" dist="38100" dir="5400000" algn="bl" rotWithShape="0">
              <a:srgbClr val="000000">
                <a:alpha val="16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1" name="Shape 15"/>
          <p:cNvSpPr/>
          <p:nvPr/>
        </p:nvSpPr>
        <p:spPr>
          <a:xfrm>
            <a:off x="6675120" y="1645920"/>
            <a:ext cx="731520" cy="731520"/>
          </a:xfrm>
          <a:prstGeom prst="ellipse">
            <a:avLst/>
          </a:prstGeom>
          <a:solidFill>
            <a:srgbClr val="1F2A5A"/>
          </a:solidFill>
          <a:ln/>
          <a:effectLst>
            <a:outerShdw blurRad="114300" dist="38100" dir="5400000" algn="bl" rotWithShape="0">
              <a:srgbClr val="000000">
                <a:alpha val="16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pic>
        <p:nvPicPr>
          <p:cNvPr id="22" name="Image 4" descr="/home/claude/assets/ic_users_w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865315" y="1836115"/>
            <a:ext cx="351130" cy="351130"/>
          </a:xfrm>
          <a:prstGeom prst="rect">
            <a:avLst/>
          </a:prstGeom>
        </p:spPr>
      </p:pic>
      <p:sp>
        <p:nvSpPr>
          <p:cNvPr id="23" name="Text 16"/>
          <p:cNvSpPr/>
          <p:nvPr/>
        </p:nvSpPr>
        <p:spPr>
          <a:xfrm>
            <a:off x="7589520" y="1691640"/>
            <a:ext cx="3749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F2A5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Immigration also fed the language</a:t>
            </a:r>
            <a:endParaRPr lang="en-US" sz="1600" dirty="0"/>
          </a:p>
        </p:txBody>
      </p:sp>
      <p:sp>
        <p:nvSpPr>
          <p:cNvPr id="24" name="Shape 17"/>
          <p:cNvSpPr/>
          <p:nvPr/>
        </p:nvSpPr>
        <p:spPr>
          <a:xfrm>
            <a:off x="6675120" y="2560320"/>
            <a:ext cx="4617720" cy="484632"/>
          </a:xfrm>
          <a:prstGeom prst="roundRect">
            <a:avLst>
              <a:gd name="adj" fmla="val 16981"/>
            </a:avLst>
          </a:prstGeom>
          <a:solidFill>
            <a:srgbClr val="F4F1EA"/>
          </a:solidFill>
          <a:ln/>
          <a:effectLst>
            <a:outerShdw blurRad="114300" dist="38100" dir="5400000" algn="bl" rotWithShape="0">
              <a:srgbClr val="000000">
                <a:alpha val="16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5" name="Shape 18"/>
          <p:cNvSpPr/>
          <p:nvPr/>
        </p:nvSpPr>
        <p:spPr>
          <a:xfrm>
            <a:off x="6839712" y="2706624"/>
            <a:ext cx="201168" cy="201168"/>
          </a:xfrm>
          <a:prstGeom prst="ellipse">
            <a:avLst/>
          </a:prstGeom>
          <a:solidFill>
            <a:srgbClr val="B3194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6" name="Text 19"/>
          <p:cNvSpPr/>
          <p:nvPr/>
        </p:nvSpPr>
        <p:spPr>
          <a:xfrm>
            <a:off x="7150608" y="2560320"/>
            <a:ext cx="4023360" cy="4846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F2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Native American  </a:t>
            </a:r>
            <a:r>
              <a:rPr lang="en-US" sz="1200" i="1" dirty="0">
                <a:solidFill>
                  <a:srgbClr val="5A61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moccasin · raccoon</a:t>
            </a:r>
            <a:endParaRPr lang="en-US" sz="1200" dirty="0"/>
          </a:p>
        </p:txBody>
      </p:sp>
      <p:sp>
        <p:nvSpPr>
          <p:cNvPr id="27" name="Shape 20"/>
          <p:cNvSpPr/>
          <p:nvPr/>
        </p:nvSpPr>
        <p:spPr>
          <a:xfrm>
            <a:off x="6675120" y="3136392"/>
            <a:ext cx="4617720" cy="484632"/>
          </a:xfrm>
          <a:prstGeom prst="roundRect">
            <a:avLst>
              <a:gd name="adj" fmla="val 16981"/>
            </a:avLst>
          </a:prstGeom>
          <a:solidFill>
            <a:srgbClr val="F4F1EA"/>
          </a:solidFill>
          <a:ln/>
          <a:effectLst>
            <a:outerShdw blurRad="114300" dist="38100" dir="5400000" algn="bl" rotWithShape="0">
              <a:srgbClr val="000000">
                <a:alpha val="16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8" name="Shape 21"/>
          <p:cNvSpPr/>
          <p:nvPr/>
        </p:nvSpPr>
        <p:spPr>
          <a:xfrm>
            <a:off x="6839712" y="3282696"/>
            <a:ext cx="201168" cy="201168"/>
          </a:xfrm>
          <a:prstGeom prst="ellipse">
            <a:avLst/>
          </a:prstGeom>
          <a:solidFill>
            <a:srgbClr val="E8B84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9" name="Text 22"/>
          <p:cNvSpPr/>
          <p:nvPr/>
        </p:nvSpPr>
        <p:spPr>
          <a:xfrm>
            <a:off x="7150608" y="3136392"/>
            <a:ext cx="4023360" cy="4846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F2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Spanish  </a:t>
            </a:r>
            <a:r>
              <a:rPr lang="en-US" sz="1200" i="1" dirty="0">
                <a:solidFill>
                  <a:srgbClr val="5A61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canyon · ranch · rodeo</a:t>
            </a:r>
            <a:endParaRPr lang="en-US" sz="1200" dirty="0"/>
          </a:p>
        </p:txBody>
      </p:sp>
      <p:sp>
        <p:nvSpPr>
          <p:cNvPr id="30" name="Shape 23"/>
          <p:cNvSpPr/>
          <p:nvPr/>
        </p:nvSpPr>
        <p:spPr>
          <a:xfrm>
            <a:off x="6675120" y="3712464"/>
            <a:ext cx="4617720" cy="484632"/>
          </a:xfrm>
          <a:prstGeom prst="roundRect">
            <a:avLst>
              <a:gd name="adj" fmla="val 16981"/>
            </a:avLst>
          </a:prstGeom>
          <a:solidFill>
            <a:srgbClr val="F4F1EA"/>
          </a:solidFill>
          <a:ln/>
          <a:effectLst>
            <a:outerShdw blurRad="114300" dist="38100" dir="5400000" algn="bl" rotWithShape="0">
              <a:srgbClr val="000000">
                <a:alpha val="16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1" name="Shape 24"/>
          <p:cNvSpPr/>
          <p:nvPr/>
        </p:nvSpPr>
        <p:spPr>
          <a:xfrm>
            <a:off x="6839712" y="3858768"/>
            <a:ext cx="201168" cy="201168"/>
          </a:xfrm>
          <a:prstGeom prst="ellipse">
            <a:avLst/>
          </a:prstGeom>
          <a:solidFill>
            <a:srgbClr val="1F2A5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2" name="Text 25"/>
          <p:cNvSpPr/>
          <p:nvPr/>
        </p:nvSpPr>
        <p:spPr>
          <a:xfrm>
            <a:off x="7150608" y="3712464"/>
            <a:ext cx="4023360" cy="4846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F2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Dutch  </a:t>
            </a:r>
            <a:r>
              <a:rPr lang="en-US" sz="1200" i="1" dirty="0">
                <a:solidFill>
                  <a:srgbClr val="5A61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cookie · boss · coleslaw</a:t>
            </a:r>
            <a:endParaRPr lang="en-US" sz="1200" dirty="0"/>
          </a:p>
        </p:txBody>
      </p:sp>
      <p:sp>
        <p:nvSpPr>
          <p:cNvPr id="33" name="Shape 26"/>
          <p:cNvSpPr/>
          <p:nvPr/>
        </p:nvSpPr>
        <p:spPr>
          <a:xfrm>
            <a:off x="6675120" y="4288536"/>
            <a:ext cx="4617720" cy="484632"/>
          </a:xfrm>
          <a:prstGeom prst="roundRect">
            <a:avLst>
              <a:gd name="adj" fmla="val 16981"/>
            </a:avLst>
          </a:prstGeom>
          <a:solidFill>
            <a:srgbClr val="F4F1EA"/>
          </a:solidFill>
          <a:ln/>
          <a:effectLst>
            <a:outerShdw blurRad="114300" dist="38100" dir="5400000" algn="bl" rotWithShape="0">
              <a:srgbClr val="000000">
                <a:alpha val="16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4" name="Shape 27"/>
          <p:cNvSpPr/>
          <p:nvPr/>
        </p:nvSpPr>
        <p:spPr>
          <a:xfrm>
            <a:off x="6839712" y="4434840"/>
            <a:ext cx="201168" cy="201168"/>
          </a:xfrm>
          <a:prstGeom prst="ellipse">
            <a:avLst/>
          </a:prstGeom>
          <a:solidFill>
            <a:srgbClr val="B3194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5" name="Text 28"/>
          <p:cNvSpPr/>
          <p:nvPr/>
        </p:nvSpPr>
        <p:spPr>
          <a:xfrm>
            <a:off x="7150608" y="4288536"/>
            <a:ext cx="4023360" cy="4846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F2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German  </a:t>
            </a:r>
            <a:r>
              <a:rPr lang="en-US" sz="1200" i="1" dirty="0">
                <a:solidFill>
                  <a:srgbClr val="5A61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kindergarten · hamburger</a:t>
            </a:r>
            <a:endParaRPr lang="en-US" sz="1200" dirty="0"/>
          </a:p>
        </p:txBody>
      </p:sp>
      <p:sp>
        <p:nvSpPr>
          <p:cNvPr id="36" name="Shape 29"/>
          <p:cNvSpPr/>
          <p:nvPr/>
        </p:nvSpPr>
        <p:spPr>
          <a:xfrm>
            <a:off x="6675120" y="4864608"/>
            <a:ext cx="4617720" cy="484632"/>
          </a:xfrm>
          <a:prstGeom prst="roundRect">
            <a:avLst>
              <a:gd name="adj" fmla="val 16981"/>
            </a:avLst>
          </a:prstGeom>
          <a:solidFill>
            <a:srgbClr val="F4F1EA"/>
          </a:solidFill>
          <a:ln/>
          <a:effectLst>
            <a:outerShdw blurRad="114300" dist="38100" dir="5400000" algn="bl" rotWithShape="0">
              <a:srgbClr val="000000">
                <a:alpha val="16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7" name="Shape 30"/>
          <p:cNvSpPr/>
          <p:nvPr/>
        </p:nvSpPr>
        <p:spPr>
          <a:xfrm>
            <a:off x="6839712" y="5010912"/>
            <a:ext cx="201168" cy="201168"/>
          </a:xfrm>
          <a:prstGeom prst="ellipse">
            <a:avLst/>
          </a:prstGeom>
          <a:solidFill>
            <a:srgbClr val="E8B84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8" name="Text 31"/>
          <p:cNvSpPr/>
          <p:nvPr/>
        </p:nvSpPr>
        <p:spPr>
          <a:xfrm>
            <a:off x="7150608" y="4864608"/>
            <a:ext cx="4023360" cy="4846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F2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Italian  </a:t>
            </a:r>
            <a:r>
              <a:rPr lang="en-US" sz="1200" i="1" dirty="0">
                <a:solidFill>
                  <a:srgbClr val="5A61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pizza · spaghetti</a:t>
            </a:r>
            <a:endParaRPr lang="en-US" sz="1200" dirty="0"/>
          </a:p>
        </p:txBody>
      </p:sp>
      <p:sp>
        <p:nvSpPr>
          <p:cNvPr id="39" name="Shape 32"/>
          <p:cNvSpPr/>
          <p:nvPr/>
        </p:nvSpPr>
        <p:spPr>
          <a:xfrm>
            <a:off x="6675120" y="5440680"/>
            <a:ext cx="4617720" cy="484632"/>
          </a:xfrm>
          <a:prstGeom prst="roundRect">
            <a:avLst>
              <a:gd name="adj" fmla="val 16981"/>
            </a:avLst>
          </a:prstGeom>
          <a:solidFill>
            <a:srgbClr val="F4F1EA"/>
          </a:solidFill>
          <a:ln/>
          <a:effectLst>
            <a:outerShdw blurRad="114300" dist="38100" dir="5400000" algn="bl" rotWithShape="0">
              <a:srgbClr val="000000">
                <a:alpha val="16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40" name="Shape 33"/>
          <p:cNvSpPr/>
          <p:nvPr/>
        </p:nvSpPr>
        <p:spPr>
          <a:xfrm>
            <a:off x="6839712" y="5586984"/>
            <a:ext cx="201168" cy="201168"/>
          </a:xfrm>
          <a:prstGeom prst="ellipse">
            <a:avLst/>
          </a:prstGeom>
          <a:solidFill>
            <a:srgbClr val="1F2A5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1" name="Text 34"/>
          <p:cNvSpPr/>
          <p:nvPr/>
        </p:nvSpPr>
        <p:spPr>
          <a:xfrm>
            <a:off x="7150608" y="5440680"/>
            <a:ext cx="4023360" cy="4846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F2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Yiddish  </a:t>
            </a:r>
            <a:r>
              <a:rPr lang="en-US" sz="1200" i="1" dirty="0">
                <a:solidFill>
                  <a:srgbClr val="5A61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bagel · klutz</a:t>
            </a:r>
            <a:endParaRPr lang="en-US" sz="1200" dirty="0"/>
          </a:p>
        </p:txBody>
      </p:sp>
      <p:sp>
        <p:nvSpPr>
          <p:cNvPr id="42" name="Text 35"/>
          <p:cNvSpPr/>
          <p:nvPr/>
        </p:nvSpPr>
        <p:spPr>
          <a:xfrm>
            <a:off x="6675120" y="6144768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9AA0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wave of immigrants left words behind.</a:t>
            </a:r>
            <a:endParaRPr lang="en-US" sz="1100" dirty="0"/>
          </a:p>
        </p:txBody>
      </p:sp>
      <p:sp>
        <p:nvSpPr>
          <p:cNvPr id="43" name="Text 36"/>
          <p:cNvSpPr/>
          <p:nvPr/>
        </p:nvSpPr>
        <p:spPr>
          <a:xfrm>
            <a:off x="8229600" y="6400800"/>
            <a:ext cx="3657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50" i="1" dirty="0">
                <a:solidFill>
                  <a:srgbClr val="9AA0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2 • [Member 2]</a:t>
            </a:r>
            <a:endParaRPr lang="en-US" sz="9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BEFD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assets/autumn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0" y="0"/>
            <a:ext cx="4343400" cy="6858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1600200" y="1965960"/>
            <a:ext cx="1371600" cy="1371600"/>
          </a:xfrm>
          <a:prstGeom prst="ellipse">
            <a:avLst/>
          </a:prstGeom>
          <a:solidFill>
            <a:srgbClr val="FBF7F0"/>
          </a:solidFill>
          <a:ln/>
          <a:effectLst>
            <a:outerShdw blurRad="114300" dist="38100" dir="5400000" algn="bl" rotWithShape="0">
              <a:srgbClr val="000000">
                <a:alpha val="16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pic>
        <p:nvPicPr>
          <p:cNvPr id="4" name="Image 1" descr="/home/claude/assets/ic_turkey_n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956816" y="2322576"/>
            <a:ext cx="658368" cy="658368"/>
          </a:xfrm>
          <a:prstGeom prst="rect">
            <a:avLst/>
          </a:prstGeom>
        </p:spPr>
      </p:pic>
      <p:sp>
        <p:nvSpPr>
          <p:cNvPr id="5" name="Text 1"/>
          <p:cNvSpPr/>
          <p:nvPr/>
        </p:nvSpPr>
        <p:spPr>
          <a:xfrm>
            <a:off x="182880" y="3566160"/>
            <a:ext cx="3977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THANKSGIVING</a:t>
            </a:r>
            <a:endParaRPr lang="en-US" sz="2600" dirty="0"/>
          </a:p>
        </p:txBody>
      </p:sp>
      <p:sp>
        <p:nvSpPr>
          <p:cNvPr id="6" name="Text 2"/>
          <p:cNvSpPr/>
          <p:nvPr/>
        </p:nvSpPr>
        <p:spPr>
          <a:xfrm>
            <a:off x="182880" y="4114800"/>
            <a:ext cx="3977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i="1" dirty="0">
                <a:solidFill>
                  <a:srgbClr val="FFF0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4th Thursday of November</a:t>
            </a:r>
            <a:endParaRPr lang="en-US" sz="1400" dirty="0"/>
          </a:p>
        </p:txBody>
      </p:sp>
      <p:sp>
        <p:nvSpPr>
          <p:cNvPr id="7" name="Text 3"/>
          <p:cNvSpPr/>
          <p:nvPr/>
        </p:nvSpPr>
        <p:spPr>
          <a:xfrm>
            <a:off x="4663440" y="640080"/>
            <a:ext cx="6949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8A3B1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Harvest of Gratitude</a:t>
            </a:r>
            <a:endParaRPr lang="en-US" sz="2600" dirty="0"/>
          </a:p>
        </p:txBody>
      </p:sp>
      <p:sp>
        <p:nvSpPr>
          <p:cNvPr id="8" name="Shape 4"/>
          <p:cNvSpPr/>
          <p:nvPr/>
        </p:nvSpPr>
        <p:spPr>
          <a:xfrm>
            <a:off x="4663440" y="1371600"/>
            <a:ext cx="6949440" cy="1078992"/>
          </a:xfrm>
          <a:prstGeom prst="roundRect">
            <a:avLst>
              <a:gd name="adj" fmla="val 7627"/>
            </a:avLst>
          </a:prstGeom>
          <a:solidFill>
            <a:srgbClr val="FFFFFF"/>
          </a:solidFill>
          <a:ln/>
          <a:effectLst>
            <a:outerShdw blurRad="114300" dist="38100" dir="5400000" algn="bl" rotWithShape="0">
              <a:srgbClr val="000000">
                <a:alpha val="16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9" name="Shape 5"/>
          <p:cNvSpPr/>
          <p:nvPr/>
        </p:nvSpPr>
        <p:spPr>
          <a:xfrm>
            <a:off x="4846320" y="1591056"/>
            <a:ext cx="658368" cy="658368"/>
          </a:xfrm>
          <a:prstGeom prst="ellipse">
            <a:avLst/>
          </a:prstGeom>
          <a:solidFill>
            <a:srgbClr val="C4622A"/>
          </a:solidFill>
          <a:ln/>
          <a:effectLst>
            <a:outerShdw blurRad="114300" dist="38100" dir="5400000" algn="bl" rotWithShape="0">
              <a:srgbClr val="000000">
                <a:alpha val="16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pic>
        <p:nvPicPr>
          <p:cNvPr id="10" name="Image 2" descr="/home/claude/assets/ic_corn_w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017496" y="1762232"/>
            <a:ext cx="316017" cy="316017"/>
          </a:xfrm>
          <a:prstGeom prst="rect">
            <a:avLst/>
          </a:prstGeom>
        </p:spPr>
      </p:pic>
      <p:sp>
        <p:nvSpPr>
          <p:cNvPr id="11" name="Text 6"/>
          <p:cNvSpPr/>
          <p:nvPr/>
        </p:nvSpPr>
        <p:spPr>
          <a:xfrm>
            <a:off x="5715000" y="1499616"/>
            <a:ext cx="5760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50" b="1" dirty="0">
                <a:solidFill>
                  <a:srgbClr val="8A3B1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Origin – 1621</a:t>
            </a:r>
            <a:endParaRPr lang="en-US" sz="1550" dirty="0"/>
          </a:p>
        </p:txBody>
      </p:sp>
      <p:sp>
        <p:nvSpPr>
          <p:cNvPr id="12" name="Text 7"/>
          <p:cNvSpPr/>
          <p:nvPr/>
        </p:nvSpPr>
        <p:spPr>
          <a:xfrm>
            <a:off x="5715000" y="1847088"/>
            <a:ext cx="5760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5A61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Modeled on a harvest feast shared by the Plymouth Pilgrims and the Wampanoag people.</a:t>
            </a:r>
            <a:endParaRPr lang="en-US" sz="1200" dirty="0"/>
          </a:p>
        </p:txBody>
      </p:sp>
      <p:sp>
        <p:nvSpPr>
          <p:cNvPr id="13" name="Shape 8"/>
          <p:cNvSpPr/>
          <p:nvPr/>
        </p:nvSpPr>
        <p:spPr>
          <a:xfrm>
            <a:off x="4663440" y="2578608"/>
            <a:ext cx="6949440" cy="1078992"/>
          </a:xfrm>
          <a:prstGeom prst="roundRect">
            <a:avLst>
              <a:gd name="adj" fmla="val 7627"/>
            </a:avLst>
          </a:prstGeom>
          <a:solidFill>
            <a:srgbClr val="FFFFFF"/>
          </a:solidFill>
          <a:ln/>
          <a:effectLst>
            <a:outerShdw blurRad="114300" dist="38100" dir="5400000" algn="bl" rotWithShape="0">
              <a:srgbClr val="000000">
                <a:alpha val="16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4" name="Shape 9"/>
          <p:cNvSpPr/>
          <p:nvPr/>
        </p:nvSpPr>
        <p:spPr>
          <a:xfrm>
            <a:off x="4846320" y="2798064"/>
            <a:ext cx="658368" cy="658368"/>
          </a:xfrm>
          <a:prstGeom prst="ellipse">
            <a:avLst/>
          </a:prstGeom>
          <a:solidFill>
            <a:srgbClr val="C4622A"/>
          </a:solidFill>
          <a:ln/>
          <a:effectLst>
            <a:outerShdw blurRad="114300" dist="38100" dir="5400000" algn="bl" rotWithShape="0">
              <a:srgbClr val="000000">
                <a:alpha val="16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pic>
        <p:nvPicPr>
          <p:cNvPr id="15" name="Image 3" descr="/home/claude/assets/ic_landmark_w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017496" y="2969240"/>
            <a:ext cx="316017" cy="316017"/>
          </a:xfrm>
          <a:prstGeom prst="rect">
            <a:avLst/>
          </a:prstGeom>
        </p:spPr>
      </p:pic>
      <p:sp>
        <p:nvSpPr>
          <p:cNvPr id="16" name="Text 10"/>
          <p:cNvSpPr/>
          <p:nvPr/>
        </p:nvSpPr>
        <p:spPr>
          <a:xfrm>
            <a:off x="5715000" y="2706624"/>
            <a:ext cx="5760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50" b="1" dirty="0">
                <a:solidFill>
                  <a:srgbClr val="8A3B1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National holiday – 1863</a:t>
            </a:r>
            <a:endParaRPr lang="en-US" sz="1550" dirty="0"/>
          </a:p>
        </p:txBody>
      </p:sp>
      <p:sp>
        <p:nvSpPr>
          <p:cNvPr id="17" name="Text 11"/>
          <p:cNvSpPr/>
          <p:nvPr/>
        </p:nvSpPr>
        <p:spPr>
          <a:xfrm>
            <a:off x="5715000" y="3054096"/>
            <a:ext cx="5760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5A61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President Lincoln made it national during the Civil War; fixed to the 4th Thursday in 1941.</a:t>
            </a:r>
            <a:endParaRPr lang="en-US" sz="1200" dirty="0"/>
          </a:p>
        </p:txBody>
      </p:sp>
      <p:sp>
        <p:nvSpPr>
          <p:cNvPr id="18" name="Shape 12"/>
          <p:cNvSpPr/>
          <p:nvPr/>
        </p:nvSpPr>
        <p:spPr>
          <a:xfrm>
            <a:off x="4663440" y="3785616"/>
            <a:ext cx="6949440" cy="1078992"/>
          </a:xfrm>
          <a:prstGeom prst="roundRect">
            <a:avLst>
              <a:gd name="adj" fmla="val 7627"/>
            </a:avLst>
          </a:prstGeom>
          <a:solidFill>
            <a:srgbClr val="FFFFFF"/>
          </a:solidFill>
          <a:ln/>
          <a:effectLst>
            <a:outerShdw blurRad="114300" dist="38100" dir="5400000" algn="bl" rotWithShape="0">
              <a:srgbClr val="000000">
                <a:alpha val="16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9" name="Shape 13"/>
          <p:cNvSpPr/>
          <p:nvPr/>
        </p:nvSpPr>
        <p:spPr>
          <a:xfrm>
            <a:off x="4846320" y="4005072"/>
            <a:ext cx="658368" cy="658368"/>
          </a:xfrm>
          <a:prstGeom prst="ellipse">
            <a:avLst/>
          </a:prstGeom>
          <a:solidFill>
            <a:srgbClr val="C4622A"/>
          </a:solidFill>
          <a:ln/>
          <a:effectLst>
            <a:outerShdw blurRad="114300" dist="38100" dir="5400000" algn="bl" rotWithShape="0">
              <a:srgbClr val="000000">
                <a:alpha val="16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pic>
        <p:nvPicPr>
          <p:cNvPr id="20" name="Image 4" descr="/home/claude/assets/ic_pie_w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017496" y="4176248"/>
            <a:ext cx="316017" cy="316017"/>
          </a:xfrm>
          <a:prstGeom prst="rect">
            <a:avLst/>
          </a:prstGeom>
        </p:spPr>
      </p:pic>
      <p:sp>
        <p:nvSpPr>
          <p:cNvPr id="21" name="Text 14"/>
          <p:cNvSpPr/>
          <p:nvPr/>
        </p:nvSpPr>
        <p:spPr>
          <a:xfrm>
            <a:off x="5715000" y="3913632"/>
            <a:ext cx="5760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50" b="1" dirty="0">
                <a:solidFill>
                  <a:srgbClr val="8A3B1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tradition today</a:t>
            </a:r>
            <a:endParaRPr lang="en-US" sz="1550" dirty="0"/>
          </a:p>
        </p:txBody>
      </p:sp>
      <p:sp>
        <p:nvSpPr>
          <p:cNvPr id="22" name="Text 15"/>
          <p:cNvSpPr/>
          <p:nvPr/>
        </p:nvSpPr>
        <p:spPr>
          <a:xfrm>
            <a:off x="5715000" y="4261104"/>
            <a:ext cx="5760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5A61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family meal of turkey, mashed potatoes, cranberry sauce and pumpkin pie; parades &amp; football.</a:t>
            </a:r>
            <a:endParaRPr lang="en-US" sz="1200" dirty="0"/>
          </a:p>
        </p:txBody>
      </p:sp>
      <p:sp>
        <p:nvSpPr>
          <p:cNvPr id="23" name="Shape 16"/>
          <p:cNvSpPr/>
          <p:nvPr/>
        </p:nvSpPr>
        <p:spPr>
          <a:xfrm>
            <a:off x="4663440" y="4992624"/>
            <a:ext cx="6949440" cy="1078992"/>
          </a:xfrm>
          <a:prstGeom prst="roundRect">
            <a:avLst>
              <a:gd name="adj" fmla="val 7627"/>
            </a:avLst>
          </a:prstGeom>
          <a:solidFill>
            <a:srgbClr val="FFFFFF"/>
          </a:solidFill>
          <a:ln/>
          <a:effectLst>
            <a:outerShdw blurRad="114300" dist="38100" dir="5400000" algn="bl" rotWithShape="0">
              <a:srgbClr val="000000">
                <a:alpha val="16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4" name="Shape 17"/>
          <p:cNvSpPr/>
          <p:nvPr/>
        </p:nvSpPr>
        <p:spPr>
          <a:xfrm>
            <a:off x="4846320" y="5212080"/>
            <a:ext cx="658368" cy="658368"/>
          </a:xfrm>
          <a:prstGeom prst="ellipse">
            <a:avLst/>
          </a:prstGeom>
          <a:solidFill>
            <a:srgbClr val="C4622A"/>
          </a:solidFill>
          <a:ln/>
          <a:effectLst>
            <a:outerShdw blurRad="114300" dist="38100" dir="5400000" algn="bl" rotWithShape="0">
              <a:srgbClr val="000000">
                <a:alpha val="16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pic>
        <p:nvPicPr>
          <p:cNvPr id="25" name="Image 5" descr="/home/claude/assets/ic_users_w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5017496" y="5383256"/>
            <a:ext cx="316017" cy="316017"/>
          </a:xfrm>
          <a:prstGeom prst="rect">
            <a:avLst/>
          </a:prstGeom>
        </p:spPr>
      </p:pic>
      <p:sp>
        <p:nvSpPr>
          <p:cNvPr id="26" name="Text 18"/>
          <p:cNvSpPr/>
          <p:nvPr/>
        </p:nvSpPr>
        <p:spPr>
          <a:xfrm>
            <a:off x="5715000" y="5120640"/>
            <a:ext cx="5760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50" b="1" dirty="0">
                <a:solidFill>
                  <a:srgbClr val="8A3B1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second perspective</a:t>
            </a:r>
            <a:endParaRPr lang="en-US" sz="1550" dirty="0"/>
          </a:p>
        </p:txBody>
      </p:sp>
      <p:sp>
        <p:nvSpPr>
          <p:cNvPr id="27" name="Text 19"/>
          <p:cNvSpPr/>
          <p:nvPr/>
        </p:nvSpPr>
        <p:spPr>
          <a:xfrm>
            <a:off x="5715000" y="5468112"/>
            <a:ext cx="5760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5A61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many Native Americans it is a ‘National Day of Mourning’, recalling colonisation.</a:t>
            </a:r>
            <a:endParaRPr lang="en-US" sz="1200" dirty="0"/>
          </a:p>
        </p:txBody>
      </p:sp>
      <p:sp>
        <p:nvSpPr>
          <p:cNvPr id="28" name="Text 20"/>
          <p:cNvSpPr/>
          <p:nvPr/>
        </p:nvSpPr>
        <p:spPr>
          <a:xfrm>
            <a:off x="8229600" y="6400800"/>
            <a:ext cx="3657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50" i="1" dirty="0">
                <a:solidFill>
                  <a:srgbClr val="9AA0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Sources: Britannica (2026); Nat. Archives</a:t>
            </a:r>
            <a:endParaRPr lang="en-US" sz="9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640080"/>
            <a:ext cx="10058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INDEPENDENCE DAY</a:t>
            </a:r>
            <a:endParaRPr lang="en-US" sz="3400" dirty="0"/>
          </a:p>
        </p:txBody>
      </p:sp>
      <p:sp>
        <p:nvSpPr>
          <p:cNvPr id="3" name="Text 1"/>
          <p:cNvSpPr/>
          <p:nvPr/>
        </p:nvSpPr>
        <p:spPr>
          <a:xfrm>
            <a:off x="749808" y="1325880"/>
            <a:ext cx="10058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i="1" dirty="0">
                <a:solidFill>
                  <a:srgbClr val="E8B8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Fourth of July — America’s birthday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731520" y="2286000"/>
            <a:ext cx="3383280" cy="3383280"/>
          </a:xfrm>
          <a:prstGeom prst="roundRect">
            <a:avLst>
              <a:gd name="adj" fmla="val 2432"/>
            </a:avLst>
          </a:prstGeom>
          <a:solidFill>
            <a:srgbClr val="FFFFFF"/>
          </a:solidFill>
          <a:ln/>
          <a:effectLst>
            <a:outerShdw blurRad="101600" dist="38100" dir="16200000" algn="bl" rotWithShape="0">
              <a:srgbClr val="000000">
                <a:alpha val="14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1874520" y="2560320"/>
            <a:ext cx="1097280" cy="1097280"/>
          </a:xfrm>
          <a:prstGeom prst="ellipse">
            <a:avLst/>
          </a:prstGeom>
          <a:solidFill>
            <a:srgbClr val="B31942"/>
          </a:solidFill>
          <a:ln/>
          <a:effectLst>
            <a:outerShdw blurRad="114300" dist="38100" dir="5400000" algn="bl" rotWithShape="0">
              <a:srgbClr val="000000">
                <a:alpha val="16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pic>
        <p:nvPicPr>
          <p:cNvPr id="6" name="Image 0" descr="/home/claude/assets/ic_scroll_w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159813" y="2845613"/>
            <a:ext cx="526694" cy="526694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960120" y="3886200"/>
            <a:ext cx="2926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1F2A5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July 4, 1776</a:t>
            </a:r>
            <a:endParaRPr lang="en-US" sz="1800" dirty="0"/>
          </a:p>
        </p:txBody>
      </p:sp>
      <p:sp>
        <p:nvSpPr>
          <p:cNvPr id="8" name="Text 5"/>
          <p:cNvSpPr/>
          <p:nvPr/>
        </p:nvSpPr>
        <p:spPr>
          <a:xfrm>
            <a:off x="1005840" y="4389120"/>
            <a:ext cx="28346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dirty="0">
                <a:solidFill>
                  <a:srgbClr val="5A61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thirteen colonies adopt the Declaration of Independence, breaking from Great Britain.</a:t>
            </a:r>
            <a:endParaRPr lang="en-US" sz="1250" dirty="0"/>
          </a:p>
        </p:txBody>
      </p:sp>
      <p:sp>
        <p:nvSpPr>
          <p:cNvPr id="9" name="Shape 6"/>
          <p:cNvSpPr/>
          <p:nvPr/>
        </p:nvSpPr>
        <p:spPr>
          <a:xfrm>
            <a:off x="4389120" y="2286000"/>
            <a:ext cx="3383280" cy="3383280"/>
          </a:xfrm>
          <a:prstGeom prst="roundRect">
            <a:avLst>
              <a:gd name="adj" fmla="val 2432"/>
            </a:avLst>
          </a:prstGeom>
          <a:solidFill>
            <a:srgbClr val="FFFFFF"/>
          </a:solidFill>
          <a:ln/>
          <a:effectLst>
            <a:outerShdw blurRad="101600" dist="38100" dir="16200000" algn="bl" rotWithShape="0">
              <a:srgbClr val="000000">
                <a:alpha val="14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0" name="Shape 7"/>
          <p:cNvSpPr/>
          <p:nvPr/>
        </p:nvSpPr>
        <p:spPr>
          <a:xfrm>
            <a:off x="5532120" y="2560320"/>
            <a:ext cx="1097280" cy="1097280"/>
          </a:xfrm>
          <a:prstGeom prst="ellipse">
            <a:avLst/>
          </a:prstGeom>
          <a:solidFill>
            <a:srgbClr val="B31942"/>
          </a:solidFill>
          <a:ln/>
          <a:effectLst>
            <a:outerShdw blurRad="114300" dist="38100" dir="5400000" algn="bl" rotWithShape="0">
              <a:srgbClr val="000000">
                <a:alpha val="16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pic>
        <p:nvPicPr>
          <p:cNvPr id="11" name="Image 1" descr="/home/claude/assets/ic_fireworks_w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817413" y="2845613"/>
            <a:ext cx="526694" cy="526694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4617720" y="3886200"/>
            <a:ext cx="2926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1F2A5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How it’s celebrated</a:t>
            </a:r>
            <a:endParaRPr lang="en-US" sz="1800" dirty="0"/>
          </a:p>
        </p:txBody>
      </p:sp>
      <p:sp>
        <p:nvSpPr>
          <p:cNvPr id="13" name="Text 9"/>
          <p:cNvSpPr/>
          <p:nvPr/>
        </p:nvSpPr>
        <p:spPr>
          <a:xfrm>
            <a:off x="4663440" y="4389120"/>
            <a:ext cx="28346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dirty="0">
                <a:solidFill>
                  <a:srgbClr val="5A61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Fireworks, parades, concerts, barbecues and the red-white-and-blue everywhere.</a:t>
            </a:r>
            <a:endParaRPr lang="en-US" sz="1250" dirty="0"/>
          </a:p>
        </p:txBody>
      </p:sp>
      <p:sp>
        <p:nvSpPr>
          <p:cNvPr id="14" name="Shape 10"/>
          <p:cNvSpPr/>
          <p:nvPr/>
        </p:nvSpPr>
        <p:spPr>
          <a:xfrm>
            <a:off x="8046720" y="2286000"/>
            <a:ext cx="3383280" cy="3383280"/>
          </a:xfrm>
          <a:prstGeom prst="roundRect">
            <a:avLst>
              <a:gd name="adj" fmla="val 2432"/>
            </a:avLst>
          </a:prstGeom>
          <a:solidFill>
            <a:srgbClr val="FFFFFF"/>
          </a:solidFill>
          <a:ln/>
          <a:effectLst>
            <a:outerShdw blurRad="101600" dist="38100" dir="16200000" algn="bl" rotWithShape="0">
              <a:srgbClr val="000000">
                <a:alpha val="14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5" name="Shape 11"/>
          <p:cNvSpPr/>
          <p:nvPr/>
        </p:nvSpPr>
        <p:spPr>
          <a:xfrm>
            <a:off x="9189720" y="2560320"/>
            <a:ext cx="1097280" cy="1097280"/>
          </a:xfrm>
          <a:prstGeom prst="ellipse">
            <a:avLst/>
          </a:prstGeom>
          <a:solidFill>
            <a:srgbClr val="B31942"/>
          </a:solidFill>
          <a:ln/>
          <a:effectLst>
            <a:outerShdw blurRad="114300" dist="38100" dir="5400000" algn="bl" rotWithShape="0">
              <a:srgbClr val="000000">
                <a:alpha val="16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pic>
        <p:nvPicPr>
          <p:cNvPr id="16" name="Image 2" descr="/home/claude/assets/ic_flagusa_w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475013" y="2845613"/>
            <a:ext cx="526694" cy="526694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8275320" y="3886200"/>
            <a:ext cx="2926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1F2A5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it means</a:t>
            </a:r>
            <a:endParaRPr lang="en-US" sz="1800" dirty="0"/>
          </a:p>
        </p:txBody>
      </p:sp>
      <p:sp>
        <p:nvSpPr>
          <p:cNvPr id="18" name="Text 13"/>
          <p:cNvSpPr/>
          <p:nvPr/>
        </p:nvSpPr>
        <p:spPr>
          <a:xfrm>
            <a:off x="8321040" y="4389120"/>
            <a:ext cx="28346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dirty="0">
                <a:solidFill>
                  <a:srgbClr val="5A61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central patriotic holiday — nationhood, freedom and civic identity.</a:t>
            </a:r>
            <a:endParaRPr lang="en-US" sz="1250" dirty="0"/>
          </a:p>
        </p:txBody>
      </p:sp>
      <p:sp>
        <p:nvSpPr>
          <p:cNvPr id="19" name="Text 14"/>
          <p:cNvSpPr/>
          <p:nvPr/>
        </p:nvSpPr>
        <p:spPr>
          <a:xfrm>
            <a:off x="731520" y="5943600"/>
            <a:ext cx="10698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i="1" dirty="0">
                <a:solidFill>
                  <a:srgbClr val="FFE7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Thanksgiving = family &amp; gratitude   •   Independence Day = nationhood &amp; freedom</a:t>
            </a:r>
            <a:endParaRPr lang="en-US" sz="13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1371600"/>
            <a:ext cx="365760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0" b="1" dirty="0">
                <a:solidFill>
                  <a:srgbClr val="2E3E7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03</a:t>
            </a:r>
            <a:endParaRPr lang="en-US" sz="15000" dirty="0"/>
          </a:p>
        </p:txBody>
      </p:sp>
      <p:sp>
        <p:nvSpPr>
          <p:cNvPr id="3" name="Shape 1"/>
          <p:cNvSpPr/>
          <p:nvPr/>
        </p:nvSpPr>
        <p:spPr>
          <a:xfrm>
            <a:off x="9052560" y="2011680"/>
            <a:ext cx="1554480" cy="1554480"/>
          </a:xfrm>
          <a:prstGeom prst="ellipse">
            <a:avLst/>
          </a:prstGeom>
          <a:solidFill>
            <a:srgbClr val="B31942"/>
          </a:solidFill>
          <a:ln/>
          <a:effectLst>
            <a:outerShdw blurRad="114300" dist="38100" dir="5400000" algn="bl" rotWithShape="0">
              <a:srgbClr val="000000">
                <a:alpha val="16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pic>
        <p:nvPicPr>
          <p:cNvPr id="4" name="Image 0" descr="/home/claude/assets/ic_balance_w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456725" y="2415845"/>
            <a:ext cx="746150" cy="74615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868680" y="3566160"/>
            <a:ext cx="100584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  <a:hlinkClick r:id="rId5" action="ppaction://hlinkfile"/>
              </a:rPr>
              <a:t>American vs British English</a:t>
            </a:r>
            <a:endParaRPr lang="en-US" sz="3800" dirty="0"/>
          </a:p>
        </p:txBody>
      </p:sp>
      <p:sp>
        <p:nvSpPr>
          <p:cNvPr id="6" name="Text 3"/>
          <p:cNvSpPr/>
          <p:nvPr/>
        </p:nvSpPr>
        <p:spPr>
          <a:xfrm>
            <a:off x="914400" y="4572000"/>
            <a:ext cx="9601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i="1" dirty="0">
                <a:solidFill>
                  <a:srgbClr val="E8B8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Four systematic differences — with clear examples</a:t>
            </a:r>
            <a:endParaRPr lang="en-US" sz="1600" dirty="0"/>
          </a:p>
        </p:txBody>
      </p:sp>
      <p:sp>
        <p:nvSpPr>
          <p:cNvPr id="7" name="Text 4"/>
          <p:cNvSpPr/>
          <p:nvPr/>
        </p:nvSpPr>
        <p:spPr>
          <a:xfrm>
            <a:off x="914400" y="5212080"/>
            <a:ext cx="9144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AEB6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Presented by  </a:t>
            </a: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[MINH TAM]</a:t>
            </a:r>
            <a:endParaRPr lang="en-US" sz="15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BF7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384048"/>
            <a:ext cx="713232" cy="713232"/>
          </a:xfrm>
          <a:prstGeom prst="ellipse">
            <a:avLst/>
          </a:prstGeom>
          <a:solidFill>
            <a:srgbClr val="1F2A5A"/>
          </a:solidFill>
          <a:ln/>
          <a:effectLst>
            <a:outerShdw blurRad="114300" dist="38100" dir="5400000" algn="bl" rotWithShape="0">
              <a:srgbClr val="000000">
                <a:alpha val="16000"/>
              </a:srgbClr>
            </a:outerShdw>
          </a:effectLst>
        </p:spPr>
      </p:sp>
      <p:pic>
        <p:nvPicPr>
          <p:cNvPr id="3" name="Image 0" descr="/home/claude/assets/ic_mic_w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4080" y="569488"/>
            <a:ext cx="342351" cy="342351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417320" y="384048"/>
            <a:ext cx="1014984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1F2A5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1. Pronunciation &amp; Phonetics (IPA)</a:t>
            </a:r>
            <a:endParaRPr lang="en-US" sz="2700" dirty="0"/>
          </a:p>
        </p:txBody>
      </p:sp>
      <p:sp>
        <p:nvSpPr>
          <p:cNvPr id="5" name="Shape 2"/>
          <p:cNvSpPr/>
          <p:nvPr/>
        </p:nvSpPr>
        <p:spPr>
          <a:xfrm>
            <a:off x="640080" y="1417320"/>
            <a:ext cx="4937760" cy="82296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/>
          <a:effectLst>
            <a:outerShdw blurRad="114300" dist="38100" dir="5400000" algn="bl" rotWithShape="0">
              <a:srgbClr val="000000">
                <a:alpha val="16000"/>
              </a:srgbClr>
            </a:outerShdw>
          </a:effectLst>
        </p:spPr>
      </p:sp>
      <p:sp>
        <p:nvSpPr>
          <p:cNvPr id="6" name="Text 3"/>
          <p:cNvSpPr/>
          <p:nvPr/>
        </p:nvSpPr>
        <p:spPr>
          <a:xfrm>
            <a:off x="868680" y="1527048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B3194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Rhoticity</a:t>
            </a:r>
            <a:endParaRPr lang="en-US" sz="1450" dirty="0"/>
          </a:p>
        </p:txBody>
      </p:sp>
      <p:sp>
        <p:nvSpPr>
          <p:cNvPr id="7" name="Text 4"/>
          <p:cNvSpPr/>
          <p:nvPr/>
        </p:nvSpPr>
        <p:spPr>
          <a:xfrm>
            <a:off x="868680" y="1837944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5A61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 pronounces every ‘r’ (car /kɑːr/); UK often drops it (/kɑː/).</a:t>
            </a:r>
            <a:endParaRPr lang="en-US" sz="1150" dirty="0"/>
          </a:p>
        </p:txBody>
      </p:sp>
      <p:sp>
        <p:nvSpPr>
          <p:cNvPr id="8" name="Shape 5"/>
          <p:cNvSpPr/>
          <p:nvPr/>
        </p:nvSpPr>
        <p:spPr>
          <a:xfrm>
            <a:off x="640080" y="2350008"/>
            <a:ext cx="4937760" cy="82296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/>
          <a:effectLst>
            <a:outerShdw blurRad="114300" dist="38100" dir="5400000" algn="bl" rotWithShape="0">
              <a:srgbClr val="000000">
                <a:alpha val="16000"/>
              </a:srgbClr>
            </a:outerShdw>
          </a:effectLst>
        </p:spPr>
      </p:sp>
      <p:sp>
        <p:nvSpPr>
          <p:cNvPr id="9" name="Text 6"/>
          <p:cNvSpPr/>
          <p:nvPr/>
        </p:nvSpPr>
        <p:spPr>
          <a:xfrm>
            <a:off x="868680" y="2459736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B3194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‘flap’ T</a:t>
            </a:r>
            <a:endParaRPr lang="en-US" sz="1450" dirty="0"/>
          </a:p>
        </p:txBody>
      </p:sp>
      <p:sp>
        <p:nvSpPr>
          <p:cNvPr id="10" name="Text 7"/>
          <p:cNvSpPr/>
          <p:nvPr/>
        </p:nvSpPr>
        <p:spPr>
          <a:xfrm>
            <a:off x="868680" y="2770632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5A61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 turns t between vowels into a quick /ɾ/ — water ≈ ‘wa-der’.</a:t>
            </a:r>
            <a:endParaRPr lang="en-US" sz="1150" dirty="0"/>
          </a:p>
        </p:txBody>
      </p:sp>
      <p:sp>
        <p:nvSpPr>
          <p:cNvPr id="11" name="Shape 8"/>
          <p:cNvSpPr/>
          <p:nvPr/>
        </p:nvSpPr>
        <p:spPr>
          <a:xfrm>
            <a:off x="640080" y="3282696"/>
            <a:ext cx="4937760" cy="82296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/>
          <a:effectLst>
            <a:outerShdw blurRad="114300" dist="38100" dir="5400000" algn="bl" rotWithShape="0">
              <a:srgbClr val="000000">
                <a:alpha val="16000"/>
              </a:srgbClr>
            </a:outerShdw>
          </a:effectLst>
        </p:spPr>
      </p:sp>
      <p:sp>
        <p:nvSpPr>
          <p:cNvPr id="12" name="Text 9"/>
          <p:cNvSpPr/>
          <p:nvPr/>
        </p:nvSpPr>
        <p:spPr>
          <a:xfrm>
            <a:off x="868680" y="3392424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B3194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BATH vowel</a:t>
            </a:r>
            <a:endParaRPr lang="en-US" sz="1450" dirty="0"/>
          </a:p>
        </p:txBody>
      </p:sp>
      <p:sp>
        <p:nvSpPr>
          <p:cNvPr id="13" name="Text 10"/>
          <p:cNvSpPr/>
          <p:nvPr/>
        </p:nvSpPr>
        <p:spPr>
          <a:xfrm>
            <a:off x="868680" y="370332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5A61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dance, bath, grass: /ɑː/ in UK vs /æ/ in US.</a:t>
            </a:r>
            <a:endParaRPr lang="en-US" sz="1150" dirty="0"/>
          </a:p>
        </p:txBody>
      </p:sp>
      <p:graphicFrame>
        <p:nvGraphicFramePr>
          <p:cNvPr id="1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806440" y="1417320"/>
          <a:ext cx="5760720" cy="1737360"/>
        </p:xfrm>
        <a:graphic>
          <a:graphicData uri="http://schemas.openxmlformats.org/drawingml/2006/table">
            <a:tbl>
              <a:tblPr/>
              <a:tblGrid>
                <a:gridCol w="15544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1031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10312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Word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3B9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B9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B9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B9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3194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UK (RP)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3B9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B9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B9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B9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3194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US (GenAm)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3B9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B9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B9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B9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3194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9144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50" b="1" dirty="0">
                          <a:solidFill>
                            <a:srgbClr val="1E22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Car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9525" cap="flat" cmpd="sng" algn="ctr">
                      <a:solidFill>
                        <a:srgbClr val="E3B9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B9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B9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B9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50" dirty="0">
                          <a:solidFill>
                            <a:srgbClr val="1E22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/kɑː/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9525" cap="flat" cmpd="sng" algn="ctr">
                      <a:solidFill>
                        <a:srgbClr val="E3B9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B9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B9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B9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50" dirty="0">
                          <a:solidFill>
                            <a:srgbClr val="1E22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/kɑːr/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9525" cap="flat" cmpd="sng" algn="ctr">
                      <a:solidFill>
                        <a:srgbClr val="E3B9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B9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B9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B9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9144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50" b="1" dirty="0">
                          <a:solidFill>
                            <a:srgbClr val="1E22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Water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9525" cap="flat" cmpd="sng" algn="ctr">
                      <a:solidFill>
                        <a:srgbClr val="E3B9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B9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B9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B9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ECE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50" dirty="0">
                          <a:solidFill>
                            <a:srgbClr val="1E22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/ˈwɔːtə/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9525" cap="flat" cmpd="sng" algn="ctr">
                      <a:solidFill>
                        <a:srgbClr val="E3B9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B9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B9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B9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ECE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50" dirty="0">
                          <a:solidFill>
                            <a:srgbClr val="1E22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/ˈwɔːɾər/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9525" cap="flat" cmpd="sng" algn="ctr">
                      <a:solidFill>
                        <a:srgbClr val="E3B9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B9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B9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B9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ECE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9144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50" b="1" dirty="0">
                          <a:solidFill>
                            <a:srgbClr val="1E22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Dance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9525" cap="flat" cmpd="sng" algn="ctr">
                      <a:solidFill>
                        <a:srgbClr val="E3B9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B9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B9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B9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50" dirty="0">
                          <a:solidFill>
                            <a:srgbClr val="1E22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/dɑːns/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9525" cap="flat" cmpd="sng" algn="ctr">
                      <a:solidFill>
                        <a:srgbClr val="E3B9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B9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B9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B9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50" dirty="0">
                          <a:solidFill>
                            <a:srgbClr val="1E22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/dæns/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9525" cap="flat" cmpd="sng" algn="ctr">
                      <a:solidFill>
                        <a:srgbClr val="E3B9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B9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B9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B9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9144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50" b="1" dirty="0">
                          <a:solidFill>
                            <a:srgbClr val="1E22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Tomato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9525" cap="flat" cmpd="sng" algn="ctr">
                      <a:solidFill>
                        <a:srgbClr val="E3B9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B9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B9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B9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ECE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50" dirty="0">
                          <a:solidFill>
                            <a:srgbClr val="1E22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/təˈmɑːtəʊ/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9525" cap="flat" cmpd="sng" algn="ctr">
                      <a:solidFill>
                        <a:srgbClr val="E3B9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B9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B9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B9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ECE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50" dirty="0">
                          <a:solidFill>
                            <a:srgbClr val="1E22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/təˈmeɪtəʊ/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9525" cap="flat" cmpd="sng" algn="ctr">
                      <a:solidFill>
                        <a:srgbClr val="E3B9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B9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B9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B9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ECE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9144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50" b="1" dirty="0">
                          <a:solidFill>
                            <a:srgbClr val="1E22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Schedule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9525" cap="flat" cmpd="sng" algn="ctr">
                      <a:solidFill>
                        <a:srgbClr val="E3B9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B9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B9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B9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50" dirty="0">
                          <a:solidFill>
                            <a:srgbClr val="1E22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/ˈʃedjuːl/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9525" cap="flat" cmpd="sng" algn="ctr">
                      <a:solidFill>
                        <a:srgbClr val="E3B9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B9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B9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B9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50" dirty="0">
                          <a:solidFill>
                            <a:srgbClr val="1E22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/ˈskedʒuːl/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9525" cap="flat" cmpd="sng" algn="ctr">
                      <a:solidFill>
                        <a:srgbClr val="E3B9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B9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B9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B9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9144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50" b="1" dirty="0">
                          <a:solidFill>
                            <a:srgbClr val="1E22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Vitamin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9525" cap="flat" cmpd="sng" algn="ctr">
                      <a:solidFill>
                        <a:srgbClr val="E3B9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B9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B9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B9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ECE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50" dirty="0">
                          <a:solidFill>
                            <a:srgbClr val="1E22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/ˈvɪtəmɪn/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9525" cap="flat" cmpd="sng" algn="ctr">
                      <a:solidFill>
                        <a:srgbClr val="E3B9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B9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B9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B9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ECE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50" dirty="0">
                          <a:solidFill>
                            <a:srgbClr val="1E22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/ˈvaɪtəmɪn/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9525" cap="flat" cmpd="sng" algn="ctr">
                      <a:solidFill>
                        <a:srgbClr val="E3B9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B9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B9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B9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ECE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15" name="Text 11"/>
          <p:cNvSpPr/>
          <p:nvPr/>
        </p:nvSpPr>
        <p:spPr>
          <a:xfrm>
            <a:off x="8229600" y="6400800"/>
            <a:ext cx="3657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50" i="1" dirty="0">
                <a:solidFill>
                  <a:srgbClr val="9AA0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Source: Cambridge Dictionary</a:t>
            </a:r>
            <a:endParaRPr lang="en-US" sz="95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BF7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384048"/>
            <a:ext cx="713232" cy="713232"/>
          </a:xfrm>
          <a:prstGeom prst="ellipse">
            <a:avLst/>
          </a:prstGeom>
          <a:solidFill>
            <a:srgbClr val="B31942"/>
          </a:solidFill>
          <a:ln/>
          <a:effectLst>
            <a:outerShdw blurRad="114300" dist="38100" dir="5400000" algn="bl" rotWithShape="0">
              <a:srgbClr val="000000">
                <a:alpha val="16000"/>
              </a:srgbClr>
            </a:outerShdw>
          </a:effectLst>
        </p:spPr>
      </p:sp>
      <p:pic>
        <p:nvPicPr>
          <p:cNvPr id="3" name="Image 0" descr="/home/claude/assets/ic_comments_w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4080" y="569488"/>
            <a:ext cx="342351" cy="342351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417320" y="384048"/>
            <a:ext cx="1014984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1F2A5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2. Vocabulary</a:t>
            </a:r>
            <a:endParaRPr lang="en-US" sz="2700" dirty="0"/>
          </a:p>
        </p:txBody>
      </p:sp>
      <p:sp>
        <p:nvSpPr>
          <p:cNvPr id="5" name="Text 2"/>
          <p:cNvSpPr/>
          <p:nvPr/>
        </p:nvSpPr>
        <p:spPr>
          <a:xfrm>
            <a:off x="1417320" y="109728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5A61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Hundreds of everyday words differ — usually understood from context.</a:t>
            </a:r>
            <a:endParaRPr lang="en-US" sz="1400" dirty="0"/>
          </a:p>
        </p:txBody>
      </p:sp>
      <p:graphicFrame>
        <p:nvGraphicFramePr>
          <p:cNvPr id="1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822960" y="1600200"/>
          <a:ext cx="10515600" cy="1790700"/>
        </p:xfrm>
        <a:graphic>
          <a:graphicData uri="http://schemas.openxmlformats.org/drawingml/2006/table">
            <a:tbl>
              <a:tblPr/>
              <a:tblGrid>
                <a:gridCol w="26289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6289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6289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6289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British English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3B9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B9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B9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B9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3194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American English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3B9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B9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B9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B9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3194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British English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3B9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B9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B9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B9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3194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American English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3B9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B9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B9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B9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3194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9144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b="1" dirty="0">
                          <a:solidFill>
                            <a:srgbClr val="1E22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flat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9525" cap="flat" cmpd="sng" algn="ctr">
                      <a:solidFill>
                        <a:srgbClr val="E3B9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B9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B9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B9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dirty="0">
                          <a:solidFill>
                            <a:srgbClr val="1E22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apartment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9525" cap="flat" cmpd="sng" algn="ctr">
                      <a:solidFill>
                        <a:srgbClr val="E3B9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B9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B9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B9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dirty="0">
                          <a:solidFill>
                            <a:srgbClr val="1E22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petrol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9525" cap="flat" cmpd="sng" algn="ctr">
                      <a:solidFill>
                        <a:srgbClr val="E3B9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B9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B9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B9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dirty="0">
                          <a:solidFill>
                            <a:srgbClr val="1E22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gas / gasoline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9525" cap="flat" cmpd="sng" algn="ctr">
                      <a:solidFill>
                        <a:srgbClr val="E3B9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B9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B9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B9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9144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b="1" dirty="0">
                          <a:solidFill>
                            <a:srgbClr val="1E22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lift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9525" cap="flat" cmpd="sng" algn="ctr">
                      <a:solidFill>
                        <a:srgbClr val="E3B9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B9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B9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B9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ECE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dirty="0">
                          <a:solidFill>
                            <a:srgbClr val="1E22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elevator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9525" cap="flat" cmpd="sng" algn="ctr">
                      <a:solidFill>
                        <a:srgbClr val="E3B9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B9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B9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B9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ECE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dirty="0">
                          <a:solidFill>
                            <a:srgbClr val="1E22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autumn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9525" cap="flat" cmpd="sng" algn="ctr">
                      <a:solidFill>
                        <a:srgbClr val="E3B9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B9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B9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B9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ECE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dirty="0">
                          <a:solidFill>
                            <a:srgbClr val="1E22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fall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9525" cap="flat" cmpd="sng" algn="ctr">
                      <a:solidFill>
                        <a:srgbClr val="E3B9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B9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B9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B9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ECE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9144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b="1" dirty="0">
                          <a:solidFill>
                            <a:srgbClr val="1E22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boot (car)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9525" cap="flat" cmpd="sng" algn="ctr">
                      <a:solidFill>
                        <a:srgbClr val="E3B9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B9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B9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B9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dirty="0">
                          <a:solidFill>
                            <a:srgbClr val="1E22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trunk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9525" cap="flat" cmpd="sng" algn="ctr">
                      <a:solidFill>
                        <a:srgbClr val="E3B9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B9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B9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B9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dirty="0">
                          <a:solidFill>
                            <a:srgbClr val="1E22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biscuit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9525" cap="flat" cmpd="sng" algn="ctr">
                      <a:solidFill>
                        <a:srgbClr val="E3B9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B9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B9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B9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dirty="0">
                          <a:solidFill>
                            <a:srgbClr val="1E22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cookie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9525" cap="flat" cmpd="sng" algn="ctr">
                      <a:solidFill>
                        <a:srgbClr val="E3B9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B9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B9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B9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9144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b="1" dirty="0">
                          <a:solidFill>
                            <a:srgbClr val="1E22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pavement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9525" cap="flat" cmpd="sng" algn="ctr">
                      <a:solidFill>
                        <a:srgbClr val="E3B9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B9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B9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B9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ECE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dirty="0">
                          <a:solidFill>
                            <a:srgbClr val="1E22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sidewalk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9525" cap="flat" cmpd="sng" algn="ctr">
                      <a:solidFill>
                        <a:srgbClr val="E3B9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B9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B9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B9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ECE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dirty="0">
                          <a:solidFill>
                            <a:srgbClr val="1E22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chips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9525" cap="flat" cmpd="sng" algn="ctr">
                      <a:solidFill>
                        <a:srgbClr val="E3B9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B9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B9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B9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ECE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dirty="0">
                          <a:solidFill>
                            <a:srgbClr val="1E22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fries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9525" cap="flat" cmpd="sng" algn="ctr">
                      <a:solidFill>
                        <a:srgbClr val="E3B9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B9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B9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B9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ECE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9144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b="1" dirty="0">
                          <a:solidFill>
                            <a:srgbClr val="1E22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underground / tube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9525" cap="flat" cmpd="sng" algn="ctr">
                      <a:solidFill>
                        <a:srgbClr val="E3B9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B9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B9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B9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dirty="0">
                          <a:solidFill>
                            <a:srgbClr val="1E22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subway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9525" cap="flat" cmpd="sng" algn="ctr">
                      <a:solidFill>
                        <a:srgbClr val="E3B9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B9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B9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B9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dirty="0">
                          <a:solidFill>
                            <a:srgbClr val="1E22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holiday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9525" cap="flat" cmpd="sng" algn="ctr">
                      <a:solidFill>
                        <a:srgbClr val="E3B9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B9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B9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B9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dirty="0">
                          <a:solidFill>
                            <a:srgbClr val="1E22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vacation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9525" cap="flat" cmpd="sng" algn="ctr">
                      <a:solidFill>
                        <a:srgbClr val="E3B9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B9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B9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B9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9144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b="1" dirty="0">
                          <a:solidFill>
                            <a:srgbClr val="1E22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football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9525" cap="flat" cmpd="sng" algn="ctr">
                      <a:solidFill>
                        <a:srgbClr val="E3B9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B9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B9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B9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ECE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dirty="0">
                          <a:solidFill>
                            <a:srgbClr val="1E22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soccer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9525" cap="flat" cmpd="sng" algn="ctr">
                      <a:solidFill>
                        <a:srgbClr val="E3B9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B9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B9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B9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ECE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dirty="0">
                          <a:solidFill>
                            <a:srgbClr val="1E22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rubbish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9525" cap="flat" cmpd="sng" algn="ctr">
                      <a:solidFill>
                        <a:srgbClr val="E3B9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B9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B9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B9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ECE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dirty="0">
                          <a:solidFill>
                            <a:srgbClr val="1E22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garbage / trash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9525" cap="flat" cmpd="sng" algn="ctr">
                      <a:solidFill>
                        <a:srgbClr val="E3B9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B9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B9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B9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ECE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7" name="Text 3"/>
          <p:cNvSpPr/>
          <p:nvPr/>
        </p:nvSpPr>
        <p:spPr>
          <a:xfrm>
            <a:off x="8229600" y="6400800"/>
            <a:ext cx="3657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50" i="1" dirty="0">
                <a:solidFill>
                  <a:srgbClr val="9AA0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Sources: VOA (2017); Wikipedia (2026)</a:t>
            </a:r>
            <a:endParaRPr lang="en-US" sz="95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BF7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384048"/>
            <a:ext cx="713232" cy="713232"/>
          </a:xfrm>
          <a:prstGeom prst="ellipse">
            <a:avLst/>
          </a:prstGeom>
          <a:solidFill>
            <a:srgbClr val="1F2A5A"/>
          </a:solidFill>
          <a:ln/>
          <a:effectLst>
            <a:outerShdw blurRad="114300" dist="38100" dir="5400000" algn="bl" rotWithShape="0">
              <a:srgbClr val="000000">
                <a:alpha val="16000"/>
              </a:srgbClr>
            </a:outerShdw>
          </a:effectLst>
        </p:spPr>
      </p:sp>
      <p:pic>
        <p:nvPicPr>
          <p:cNvPr id="3" name="Image 0" descr="/home/claude/assets/ic_pen_w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4080" y="569488"/>
            <a:ext cx="342351" cy="342351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417320" y="384048"/>
            <a:ext cx="1014984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1F2A5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3. Grammar</a:t>
            </a:r>
            <a:endParaRPr lang="en-US" sz="2700" dirty="0"/>
          </a:p>
        </p:txBody>
      </p:sp>
      <p:sp>
        <p:nvSpPr>
          <p:cNvPr id="5" name="Text 2"/>
          <p:cNvSpPr/>
          <p:nvPr/>
        </p:nvSpPr>
        <p:spPr>
          <a:xfrm>
            <a:off x="1417320" y="109728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5A61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Fewer differences than vocabulary — and fewer in writing than in speech.</a:t>
            </a:r>
            <a:endParaRPr lang="en-US" sz="1400" dirty="0"/>
          </a:p>
        </p:txBody>
      </p:sp>
      <p:graphicFrame>
        <p:nvGraphicFramePr>
          <p:cNvPr id="1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822960" y="1600200"/>
          <a:ext cx="10515600" cy="1790700"/>
        </p:xfrm>
        <a:graphic>
          <a:graphicData uri="http://schemas.openxmlformats.org/drawingml/2006/table">
            <a:tbl>
              <a:tblPr/>
              <a:tblGrid>
                <a:gridCol w="39319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2918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29184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Feature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3B9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B9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B9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B9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3194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British English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3B9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B9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B9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B9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3194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American English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3B9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B9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B9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B9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3194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9144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b="1" dirty="0">
                          <a:solidFill>
                            <a:srgbClr val="1E22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Present perfect vs past simple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9525" cap="flat" cmpd="sng" algn="ctr">
                      <a:solidFill>
                        <a:srgbClr val="E3B9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B9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B9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B9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dirty="0">
                          <a:solidFill>
                            <a:srgbClr val="1E22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 have just eaten.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9525" cap="flat" cmpd="sng" algn="ctr">
                      <a:solidFill>
                        <a:srgbClr val="E3B9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B9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B9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B9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dirty="0">
                          <a:solidFill>
                            <a:srgbClr val="1E22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 just ate.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9525" cap="flat" cmpd="sng" algn="ctr">
                      <a:solidFill>
                        <a:srgbClr val="E3B9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B9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B9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B9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9144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b="1" dirty="0">
                          <a:solidFill>
                            <a:srgbClr val="1E22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Past participle of ‘get’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9525" cap="flat" cmpd="sng" algn="ctr">
                      <a:solidFill>
                        <a:srgbClr val="E3B9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B9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B9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B9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ECE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dirty="0">
                          <a:solidFill>
                            <a:srgbClr val="1E22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got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9525" cap="flat" cmpd="sng" algn="ctr">
                      <a:solidFill>
                        <a:srgbClr val="E3B9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B9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B9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B9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ECE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dirty="0">
                          <a:solidFill>
                            <a:srgbClr val="1E22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gotten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9525" cap="flat" cmpd="sng" algn="ctr">
                      <a:solidFill>
                        <a:srgbClr val="E3B9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B9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B9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B9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ECE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9144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b="1" dirty="0">
                          <a:solidFill>
                            <a:srgbClr val="1E22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Collective nouns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9525" cap="flat" cmpd="sng" algn="ctr">
                      <a:solidFill>
                        <a:srgbClr val="E3B9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B9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B9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B9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dirty="0">
                          <a:solidFill>
                            <a:srgbClr val="1E22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The team are playing.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9525" cap="flat" cmpd="sng" algn="ctr">
                      <a:solidFill>
                        <a:srgbClr val="E3B9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B9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B9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B9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dirty="0">
                          <a:solidFill>
                            <a:srgbClr val="1E22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The team is playing.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9525" cap="flat" cmpd="sng" algn="ctr">
                      <a:solidFill>
                        <a:srgbClr val="E3B9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B9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B9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B9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9144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b="1" dirty="0">
                          <a:solidFill>
                            <a:srgbClr val="1E22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Lack of obligation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9525" cap="flat" cmpd="sng" algn="ctr">
                      <a:solidFill>
                        <a:srgbClr val="E3B9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B9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B9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B9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ECE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dirty="0">
                          <a:solidFill>
                            <a:srgbClr val="1E22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You needn’t come.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9525" cap="flat" cmpd="sng" algn="ctr">
                      <a:solidFill>
                        <a:srgbClr val="E3B9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B9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B9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B9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ECE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dirty="0">
                          <a:solidFill>
                            <a:srgbClr val="1E22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You don’t need to come.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9525" cap="flat" cmpd="sng" algn="ctr">
                      <a:solidFill>
                        <a:srgbClr val="E3B9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B9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B9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B9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ECE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9144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b="1" dirty="0">
                          <a:solidFill>
                            <a:srgbClr val="1E22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Preposition of time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9525" cap="flat" cmpd="sng" algn="ctr">
                      <a:solidFill>
                        <a:srgbClr val="E3B9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B9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B9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B9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dirty="0">
                          <a:solidFill>
                            <a:srgbClr val="1E22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at the weekend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9525" cap="flat" cmpd="sng" algn="ctr">
                      <a:solidFill>
                        <a:srgbClr val="E3B9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B9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B9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B9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dirty="0">
                          <a:solidFill>
                            <a:srgbClr val="1E22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on the weekend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9525" cap="flat" cmpd="sng" algn="ctr">
                      <a:solidFill>
                        <a:srgbClr val="E3B9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B9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B9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B9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9144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b="1" dirty="0">
                          <a:solidFill>
                            <a:srgbClr val="1E22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Possession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9525" cap="flat" cmpd="sng" algn="ctr">
                      <a:solidFill>
                        <a:srgbClr val="E3B9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B9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B9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B9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ECE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dirty="0">
                          <a:solidFill>
                            <a:srgbClr val="1E22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Have you got a pen?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9525" cap="flat" cmpd="sng" algn="ctr">
                      <a:solidFill>
                        <a:srgbClr val="E3B9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B9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B9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B9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ECE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dirty="0">
                          <a:solidFill>
                            <a:srgbClr val="1E22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Do you have a pen?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9525" cap="flat" cmpd="sng" algn="ctr">
                      <a:solidFill>
                        <a:srgbClr val="E3B9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B9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B9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B9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ECE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7" name="Text 3"/>
          <p:cNvSpPr/>
          <p:nvPr/>
        </p:nvSpPr>
        <p:spPr>
          <a:xfrm>
            <a:off x="8229600" y="6400800"/>
            <a:ext cx="3657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50" i="1" dirty="0">
                <a:solidFill>
                  <a:srgbClr val="9AA0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Sources: British Council (2020); Cambridge</a:t>
            </a:r>
            <a:endParaRPr lang="en-US" sz="95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BF7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384048"/>
            <a:ext cx="713232" cy="713232"/>
          </a:xfrm>
          <a:prstGeom prst="ellipse">
            <a:avLst/>
          </a:prstGeom>
          <a:solidFill>
            <a:srgbClr val="E8B84B"/>
          </a:solidFill>
          <a:ln/>
          <a:effectLst>
            <a:outerShdw blurRad="114300" dist="38100" dir="5400000" algn="bl" rotWithShape="0">
              <a:srgbClr val="000000">
                <a:alpha val="16000"/>
              </a:srgbClr>
            </a:outerShdw>
          </a:effectLst>
        </p:spPr>
      </p:sp>
      <p:pic>
        <p:nvPicPr>
          <p:cNvPr id="3" name="Image 0" descr="/home/claude/assets/ic_spell_n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4080" y="569488"/>
            <a:ext cx="342351" cy="342351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417320" y="384048"/>
            <a:ext cx="1014984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1F2A5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4. Spelling</a:t>
            </a:r>
            <a:endParaRPr lang="en-US" sz="2700" dirty="0"/>
          </a:p>
        </p:txBody>
      </p:sp>
      <p:sp>
        <p:nvSpPr>
          <p:cNvPr id="5" name="Text 2"/>
          <p:cNvSpPr/>
          <p:nvPr/>
        </p:nvSpPr>
        <p:spPr>
          <a:xfrm>
            <a:off x="1417320" y="109728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5A61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Many patterns trace back to Noah Webster’s 1828 dictionary.</a:t>
            </a:r>
            <a:endParaRPr lang="en-US" sz="1400" dirty="0"/>
          </a:p>
        </p:txBody>
      </p:sp>
      <p:graphicFrame>
        <p:nvGraphicFramePr>
          <p:cNvPr id="2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822960" y="1600200"/>
          <a:ext cx="10515600" cy="1790700"/>
        </p:xfrm>
        <a:graphic>
          <a:graphicData uri="http://schemas.openxmlformats.org/drawingml/2006/table">
            <a:tbl>
              <a:tblPr/>
              <a:tblGrid>
                <a:gridCol w="32004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6576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6576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Pattern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3B9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B9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B9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B9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3194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British English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3B9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B9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B9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B9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3194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American English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3B9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B9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B9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B9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3194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9144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b="1" dirty="0">
                          <a:solidFill>
                            <a:srgbClr val="1E22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-our  →  -or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9525" cap="flat" cmpd="sng" algn="ctr">
                      <a:solidFill>
                        <a:srgbClr val="E3B9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B9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B9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B9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dirty="0">
                          <a:solidFill>
                            <a:srgbClr val="1E22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colour, honour, favour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9525" cap="flat" cmpd="sng" algn="ctr">
                      <a:solidFill>
                        <a:srgbClr val="E3B9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B9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B9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B9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dirty="0">
                          <a:solidFill>
                            <a:srgbClr val="1E22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color, honor, favor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9525" cap="flat" cmpd="sng" algn="ctr">
                      <a:solidFill>
                        <a:srgbClr val="E3B9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B9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B9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B9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9144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b="1" dirty="0">
                          <a:solidFill>
                            <a:srgbClr val="1E22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-re  →  -er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9525" cap="flat" cmpd="sng" algn="ctr">
                      <a:solidFill>
                        <a:srgbClr val="E3B9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B9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B9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B9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ECE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dirty="0">
                          <a:solidFill>
                            <a:srgbClr val="1E22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centre, theatre, metre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9525" cap="flat" cmpd="sng" algn="ctr">
                      <a:solidFill>
                        <a:srgbClr val="E3B9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B9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B9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B9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ECE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dirty="0">
                          <a:solidFill>
                            <a:srgbClr val="1E22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center, theater, meter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9525" cap="flat" cmpd="sng" algn="ctr">
                      <a:solidFill>
                        <a:srgbClr val="E3B9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B9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B9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B9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ECE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9144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b="1" dirty="0">
                          <a:solidFill>
                            <a:srgbClr val="1E22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-ise  →  -ize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9525" cap="flat" cmpd="sng" algn="ctr">
                      <a:solidFill>
                        <a:srgbClr val="E3B9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B9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B9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B9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dirty="0">
                          <a:solidFill>
                            <a:srgbClr val="1E22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organise, realise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9525" cap="flat" cmpd="sng" algn="ctr">
                      <a:solidFill>
                        <a:srgbClr val="E3B9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B9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B9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B9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dirty="0">
                          <a:solidFill>
                            <a:srgbClr val="1E22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organize, realize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9525" cap="flat" cmpd="sng" algn="ctr">
                      <a:solidFill>
                        <a:srgbClr val="E3B9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B9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B9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B9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9144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b="1" dirty="0">
                          <a:solidFill>
                            <a:srgbClr val="1E22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double ‘l’  →  single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9525" cap="flat" cmpd="sng" algn="ctr">
                      <a:solidFill>
                        <a:srgbClr val="E3B9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B9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B9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B9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ECE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dirty="0">
                          <a:solidFill>
                            <a:srgbClr val="1E22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travelled, cancelled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9525" cap="flat" cmpd="sng" algn="ctr">
                      <a:solidFill>
                        <a:srgbClr val="E3B9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B9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B9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B9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ECE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dirty="0">
                          <a:solidFill>
                            <a:srgbClr val="1E22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traveled, canceled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9525" cap="flat" cmpd="sng" algn="ctr">
                      <a:solidFill>
                        <a:srgbClr val="E3B9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B9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B9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B9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ECE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9144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b="1" dirty="0">
                          <a:solidFill>
                            <a:srgbClr val="1E22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-ogue  →  -og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9525" cap="flat" cmpd="sng" algn="ctr">
                      <a:solidFill>
                        <a:srgbClr val="E3B9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B9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B9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B9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dirty="0">
                          <a:solidFill>
                            <a:srgbClr val="1E22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catalogue, dialogue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9525" cap="flat" cmpd="sng" algn="ctr">
                      <a:solidFill>
                        <a:srgbClr val="E3B9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B9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B9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B9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dirty="0">
                          <a:solidFill>
                            <a:srgbClr val="1E22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catalog, dialog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9525" cap="flat" cmpd="sng" algn="ctr">
                      <a:solidFill>
                        <a:srgbClr val="E3B9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B9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B9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B9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9144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b="1" dirty="0">
                          <a:solidFill>
                            <a:srgbClr val="1E22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-ence  →  -ense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9525" cap="flat" cmpd="sng" algn="ctr">
                      <a:solidFill>
                        <a:srgbClr val="E3B9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B9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B9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B9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ECE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dirty="0">
                          <a:solidFill>
                            <a:srgbClr val="1E22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defence, licence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9525" cap="flat" cmpd="sng" algn="ctr">
                      <a:solidFill>
                        <a:srgbClr val="E3B9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B9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B9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B9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ECE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dirty="0">
                          <a:solidFill>
                            <a:srgbClr val="1E22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defense, license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9525" cap="flat" cmpd="sng" algn="ctr">
                      <a:solidFill>
                        <a:srgbClr val="E3B9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B9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B9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B9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ECE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7" name="Text 3"/>
          <p:cNvSpPr/>
          <p:nvPr/>
        </p:nvSpPr>
        <p:spPr>
          <a:xfrm>
            <a:off x="8229600" y="6400800"/>
            <a:ext cx="3657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50" i="1" dirty="0">
                <a:solidFill>
                  <a:srgbClr val="9AA0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Source: Wikipedia (2026); Oxford Intl. English</a:t>
            </a:r>
            <a:endParaRPr lang="en-US" sz="95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BF7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384048"/>
            <a:ext cx="713232" cy="713232"/>
          </a:xfrm>
          <a:prstGeom prst="ellipse">
            <a:avLst/>
          </a:prstGeom>
          <a:solidFill>
            <a:srgbClr val="E8B84B"/>
          </a:solidFill>
          <a:ln/>
          <a:effectLst>
            <a:outerShdw blurRad="114300" dist="38100" dir="5400000" algn="bl" rotWithShape="0">
              <a:srgbClr val="000000">
                <a:alpha val="16000"/>
              </a:srgbClr>
            </a:outerShdw>
          </a:effectLst>
        </p:spPr>
      </p:sp>
      <p:pic>
        <p:nvPicPr>
          <p:cNvPr id="3" name="Image 0" descr="/home/claude/assets/ic_bulb_n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4080" y="569488"/>
            <a:ext cx="342351" cy="342351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417320" y="384048"/>
            <a:ext cx="1014984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1F2A5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Conclusion — Key Takeaways</a:t>
            </a:r>
            <a:endParaRPr lang="en-US" sz="2700" dirty="0"/>
          </a:p>
        </p:txBody>
      </p:sp>
      <p:sp>
        <p:nvSpPr>
          <p:cNvPr id="5" name="Shape 2"/>
          <p:cNvSpPr/>
          <p:nvPr/>
        </p:nvSpPr>
        <p:spPr>
          <a:xfrm>
            <a:off x="640080" y="1508760"/>
            <a:ext cx="10881360" cy="123444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/>
          <a:effectLst>
            <a:outerShdw blurRad="114300" dist="38100" dir="5400000" algn="bl" rotWithShape="0">
              <a:srgbClr val="000000">
                <a:alpha val="16000"/>
              </a:srgbClr>
            </a:outerShdw>
          </a:effectLst>
        </p:spPr>
      </p:sp>
      <p:sp>
        <p:nvSpPr>
          <p:cNvPr id="6" name="Shape 3"/>
          <p:cNvSpPr/>
          <p:nvPr/>
        </p:nvSpPr>
        <p:spPr>
          <a:xfrm>
            <a:off x="868680" y="1783080"/>
            <a:ext cx="713232" cy="713232"/>
          </a:xfrm>
          <a:prstGeom prst="ellipse">
            <a:avLst/>
          </a:prstGeom>
          <a:solidFill>
            <a:srgbClr val="1F2A5A"/>
          </a:solidFill>
          <a:ln/>
          <a:effectLst>
            <a:outerShdw blurRad="114300" dist="38100" dir="5400000" algn="bl" rotWithShape="0">
              <a:srgbClr val="000000">
                <a:alpha val="16000"/>
              </a:srgbClr>
            </a:outerShdw>
          </a:effectLst>
        </p:spPr>
      </p:sp>
      <p:pic>
        <p:nvPicPr>
          <p:cNvPr id="7" name="Image 1" descr="/home/claude/assets/ic_globe_w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54120" y="1968520"/>
            <a:ext cx="342351" cy="342351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1874520" y="1691640"/>
            <a:ext cx="9418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F2A5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History, not superiority</a:t>
            </a:r>
            <a:endParaRPr lang="en-US" sz="1800" dirty="0"/>
          </a:p>
        </p:txBody>
      </p:sp>
      <p:sp>
        <p:nvSpPr>
          <p:cNvPr id="9" name="Text 5"/>
          <p:cNvSpPr/>
          <p:nvPr/>
        </p:nvSpPr>
        <p:spPr>
          <a:xfrm>
            <a:off x="1874520" y="2075688"/>
            <a:ext cx="9418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5A61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English is global because of the British Empire and US power — and the USA sits in Kachru’s Inner Circle.</a:t>
            </a:r>
            <a:endParaRPr lang="en-US" sz="1300" dirty="0"/>
          </a:p>
        </p:txBody>
      </p:sp>
      <p:sp>
        <p:nvSpPr>
          <p:cNvPr id="10" name="Shape 6"/>
          <p:cNvSpPr/>
          <p:nvPr/>
        </p:nvSpPr>
        <p:spPr>
          <a:xfrm>
            <a:off x="640080" y="2880360"/>
            <a:ext cx="10881360" cy="123444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/>
          <a:effectLst>
            <a:outerShdw blurRad="114300" dist="38100" dir="5400000" algn="bl" rotWithShape="0">
              <a:srgbClr val="000000">
                <a:alpha val="16000"/>
              </a:srgbClr>
            </a:outerShdw>
          </a:effectLst>
        </p:spPr>
      </p:sp>
      <p:sp>
        <p:nvSpPr>
          <p:cNvPr id="11" name="Shape 7"/>
          <p:cNvSpPr/>
          <p:nvPr/>
        </p:nvSpPr>
        <p:spPr>
          <a:xfrm>
            <a:off x="868680" y="3154680"/>
            <a:ext cx="713232" cy="713232"/>
          </a:xfrm>
          <a:prstGeom prst="ellipse">
            <a:avLst/>
          </a:prstGeom>
          <a:solidFill>
            <a:srgbClr val="B31942"/>
          </a:solidFill>
          <a:ln/>
          <a:effectLst>
            <a:outerShdw blurRad="114300" dist="38100" dir="5400000" algn="bl" rotWithShape="0">
              <a:srgbClr val="000000">
                <a:alpha val="16000"/>
              </a:srgbClr>
            </a:outerShdw>
          </a:effectLst>
        </p:spPr>
      </p:sp>
      <p:pic>
        <p:nvPicPr>
          <p:cNvPr id="12" name="Image 2" descr="/home/claude/assets/ic_ship_w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54120" y="3340120"/>
            <a:ext cx="342351" cy="342351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1874520" y="3063240"/>
            <a:ext cx="9418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F2A5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Isolation, adaptation, independence</a:t>
            </a:r>
            <a:endParaRPr lang="en-US" sz="1800" dirty="0"/>
          </a:p>
        </p:txBody>
      </p:sp>
      <p:sp>
        <p:nvSpPr>
          <p:cNvPr id="14" name="Text 9"/>
          <p:cNvSpPr/>
          <p:nvPr/>
        </p:nvSpPr>
        <p:spPr>
          <a:xfrm>
            <a:off x="1874520" y="3447288"/>
            <a:ext cx="9418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5A61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Atlantic, a new environment and Noah Webster made American English distinct.</a:t>
            </a:r>
            <a:endParaRPr lang="en-US" sz="1300" dirty="0"/>
          </a:p>
        </p:txBody>
      </p:sp>
      <p:sp>
        <p:nvSpPr>
          <p:cNvPr id="15" name="Shape 10"/>
          <p:cNvSpPr/>
          <p:nvPr/>
        </p:nvSpPr>
        <p:spPr>
          <a:xfrm>
            <a:off x="640080" y="4251960"/>
            <a:ext cx="10881360" cy="123444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/>
          <a:effectLst>
            <a:outerShdw blurRad="114300" dist="38100" dir="5400000" algn="bl" rotWithShape="0">
              <a:srgbClr val="000000">
                <a:alpha val="16000"/>
              </a:srgbClr>
            </a:outerShdw>
          </a:effectLst>
        </p:spPr>
      </p:sp>
      <p:sp>
        <p:nvSpPr>
          <p:cNvPr id="16" name="Shape 11"/>
          <p:cNvSpPr/>
          <p:nvPr/>
        </p:nvSpPr>
        <p:spPr>
          <a:xfrm>
            <a:off x="868680" y="4526280"/>
            <a:ext cx="713232" cy="713232"/>
          </a:xfrm>
          <a:prstGeom prst="ellipse">
            <a:avLst/>
          </a:prstGeom>
          <a:solidFill>
            <a:srgbClr val="E8B84B"/>
          </a:solidFill>
          <a:ln/>
          <a:effectLst>
            <a:outerShdw blurRad="114300" dist="38100" dir="5400000" algn="bl" rotWithShape="0">
              <a:srgbClr val="000000">
                <a:alpha val="16000"/>
              </a:srgbClr>
            </a:outerShdw>
          </a:effectLst>
        </p:spPr>
      </p:sp>
      <p:pic>
        <p:nvPicPr>
          <p:cNvPr id="17" name="Image 3" descr="/home/claude/assets/ic_balance_n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54120" y="4711720"/>
            <a:ext cx="342351" cy="342351"/>
          </a:xfrm>
          <a:prstGeom prst="rect">
            <a:avLst/>
          </a:prstGeom>
        </p:spPr>
      </p:pic>
      <p:sp>
        <p:nvSpPr>
          <p:cNvPr id="18" name="Text 12"/>
          <p:cNvSpPr/>
          <p:nvPr/>
        </p:nvSpPr>
        <p:spPr>
          <a:xfrm>
            <a:off x="1874520" y="4434840"/>
            <a:ext cx="9418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F2A5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One language, two varieties</a:t>
            </a:r>
            <a:endParaRPr lang="en-US" sz="1800" dirty="0"/>
          </a:p>
        </p:txBody>
      </p:sp>
      <p:sp>
        <p:nvSpPr>
          <p:cNvPr id="19" name="Text 13"/>
          <p:cNvSpPr/>
          <p:nvPr/>
        </p:nvSpPr>
        <p:spPr>
          <a:xfrm>
            <a:off x="1874520" y="4818888"/>
            <a:ext cx="9418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5A61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American and British English differ in sound, words, grammar and spelling — but remain mutually intelligible.</a:t>
            </a:r>
            <a:endParaRPr lang="en-US" sz="1300" dirty="0"/>
          </a:p>
        </p:txBody>
      </p:sp>
      <p:sp>
        <p:nvSpPr>
          <p:cNvPr id="20" name="Text 14"/>
          <p:cNvSpPr/>
          <p:nvPr/>
        </p:nvSpPr>
        <p:spPr>
          <a:xfrm>
            <a:off x="685800" y="580644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B319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Future studies: </a:t>
            </a:r>
            <a:r>
              <a:rPr lang="en-US" sz="1250" i="1" dirty="0">
                <a:solidFill>
                  <a:srgbClr val="1E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compare Outer-Circle varieties (Indian, Philippine English) or how US media shapes English for learners in Vietnam.</a:t>
            </a:r>
            <a:endParaRPr lang="en-US" sz="125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23560" y="1371600"/>
            <a:ext cx="1371600" cy="1371600"/>
          </a:xfrm>
          <a:prstGeom prst="ellipse">
            <a:avLst/>
          </a:prstGeom>
          <a:solidFill>
            <a:srgbClr val="B31942"/>
          </a:solidFill>
          <a:ln/>
          <a:effectLst>
            <a:outerShdw blurRad="114300" dist="38100" dir="5400000" algn="bl" rotWithShape="0">
              <a:srgbClr val="000000">
                <a:alpha val="16000"/>
              </a:srgbClr>
            </a:outerShdw>
          </a:effectLst>
        </p:spPr>
      </p:sp>
      <p:pic>
        <p:nvPicPr>
          <p:cNvPr id="3" name="Image 0" descr="/home/claude/assets/ic_qa_w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980176" y="1728216"/>
            <a:ext cx="658368" cy="658368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731520" y="2880360"/>
            <a:ext cx="106984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5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Thank You!</a:t>
            </a:r>
            <a:endParaRPr lang="en-US" sz="5400" dirty="0"/>
          </a:p>
        </p:txBody>
      </p:sp>
      <p:sp>
        <p:nvSpPr>
          <p:cNvPr id="5" name="Text 2"/>
          <p:cNvSpPr/>
          <p:nvPr/>
        </p:nvSpPr>
        <p:spPr>
          <a:xfrm>
            <a:off x="731520" y="3840480"/>
            <a:ext cx="10698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i="1" dirty="0">
                <a:solidFill>
                  <a:srgbClr val="E8B8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Questions &amp; Answers</a:t>
            </a:r>
            <a:endParaRPr lang="en-US" sz="2000" dirty="0"/>
          </a:p>
        </p:txBody>
      </p:sp>
      <p:sp>
        <p:nvSpPr>
          <p:cNvPr id="6" name="Text 3"/>
          <p:cNvSpPr/>
          <p:nvPr/>
        </p:nvSpPr>
        <p:spPr>
          <a:xfrm>
            <a:off x="731520" y="4663440"/>
            <a:ext cx="10698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[MINH TAN]     •     [THANH THUY]     •     [MINH TAM]</a:t>
            </a:r>
            <a:endParaRPr lang="en-US" sz="1500" dirty="0"/>
          </a:p>
        </p:txBody>
      </p:sp>
      <p:sp>
        <p:nvSpPr>
          <p:cNvPr id="7" name="Text 4"/>
          <p:cNvSpPr/>
          <p:nvPr/>
        </p:nvSpPr>
        <p:spPr>
          <a:xfrm>
            <a:off x="731520" y="5303520"/>
            <a:ext cx="10698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AEB6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references (Harvard style) are provided in the accompanying essay.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53</TotalTime>
  <Words>2365</Words>
  <Application>Microsoft Office PowerPoint</Application>
  <PresentationFormat>Custom</PresentationFormat>
  <Paragraphs>313</Paragraphs>
  <Slides>20</Slides>
  <Notes>20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20</vt:i4>
      </vt:variant>
    </vt:vector>
  </HeadingPairs>
  <TitlesOfParts>
    <vt:vector size="25" baseType="lpstr">
      <vt:lpstr>Aptos</vt:lpstr>
      <vt:lpstr>Arial</vt:lpstr>
      <vt:lpstr>Calibri</vt:lpstr>
      <vt:lpstr>Cambria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English as a Global Language - USA</dc:title>
  <dc:subject>PptxGenJS Presentation</dc:subject>
  <dc:creator>Group Presentation</dc:creator>
  <cp:lastModifiedBy>Admin</cp:lastModifiedBy>
  <cp:revision>7</cp:revision>
  <dcterms:created xsi:type="dcterms:W3CDTF">2026-07-14T05:05:31Z</dcterms:created>
  <dcterms:modified xsi:type="dcterms:W3CDTF">2026-04-22T02:18:13Z</dcterms:modified>
</cp:coreProperties>
</file>